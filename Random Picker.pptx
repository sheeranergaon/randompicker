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4"/>
  </p:sldMasterIdLst>
  <p:notesMasterIdLst>
    <p:notesMasterId r:id="rId23"/>
  </p:notesMasterIdLst>
  <p:handoutMasterIdLst>
    <p:handoutMasterId r:id="rId24"/>
  </p:handoutMasterIdLst>
  <p:sldIdLst>
    <p:sldId id="256" r:id="rId5"/>
    <p:sldId id="270" r:id="rId6"/>
    <p:sldId id="271" r:id="rId7"/>
    <p:sldId id="257" r:id="rId8"/>
    <p:sldId id="272" r:id="rId9"/>
    <p:sldId id="273" r:id="rId10"/>
    <p:sldId id="274" r:id="rId11"/>
    <p:sldId id="275" r:id="rId12"/>
    <p:sldId id="277" r:id="rId13"/>
    <p:sldId id="278" r:id="rId14"/>
    <p:sldId id="279" r:id="rId15"/>
    <p:sldId id="280" r:id="rId16"/>
    <p:sldId id="281" r:id="rId17"/>
    <p:sldId id="284" r:id="rId18"/>
    <p:sldId id="283" r:id="rId19"/>
    <p:sldId id="285" r:id="rId20"/>
    <p:sldId id="286" r:id="rId21"/>
    <p:sldId id="287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E3E3E"/>
    <a:srgbClr val="6D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9C7853C-536D-4A76-A0AE-DD22124D55A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05" autoAdjust="0"/>
    <p:restoredTop sz="83558" autoAdjust="0"/>
  </p:normalViewPr>
  <p:slideViewPr>
    <p:cSldViewPr snapToGrid="0">
      <p:cViewPr>
        <p:scale>
          <a:sx n="44" d="100"/>
          <a:sy n="44" d="100"/>
        </p:scale>
        <p:origin x="20" y="4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0" d="100"/>
          <a:sy n="60" d="100"/>
        </p:scale>
        <p:origin x="2424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3EDD3B8-5E68-48E9-AAB1-5DE570C28ED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897E35-4312-4077-83D3-69953080BC2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836F02-AF67-416B-AB85-08CFF698F86D}" type="datetimeFigureOut">
              <a:rPr lang="en-US" smtClean="0"/>
              <a:t>12/14/2025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853C52-2B92-4B9E-86F4-DB78684BEC8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0E0EA4-BAD2-4335-9446-CA4CCFEC14A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65BC62-3B36-43F8-8B69-D6E5E743DA3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65184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B7E8F0-931C-4E43-98D1-A3CD0E0034DC}" type="datetimeFigureOut">
              <a:rPr lang="en-US" smtClean="0"/>
              <a:t>12/14/2025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AEB063-7F11-4E3B-BA52-07405B1C2D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29302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 specific and direct in the title. Use the subtitle to give the specific context of the speech.</a:t>
            </a:r>
          </a:p>
          <a:p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-The goal should be to capture the audience’s attention which can be done with a quote, a startling statistic, or fact.  It is not necessary to include this attention getter on the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AEB063-7F11-4E3B-BA52-07405B1C2D9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54555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Use the background points to post details that are not common knowledge, or that the audience will need to understand the context of the speech.</a:t>
            </a:r>
          </a:p>
          <a:p>
            <a:r>
              <a:rPr lang="en-US" dirty="0"/>
              <a:t>-Do not read these main points from the PowerPoint, instead elaborate on these points during the speech.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AEB063-7F11-4E3B-BA52-07405B1C2D95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24013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CE444-69E3-5A79-C67A-1D2CAFF51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BC49CC-15FF-9CC1-E9D1-5A1361FF97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FF18B9-D7BA-2C36-B249-944458FF2B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Use the background points to post details that are not common knowledge, or that the audience will need to understand the context of the speech.</a:t>
            </a:r>
          </a:p>
          <a:p>
            <a:r>
              <a:rPr lang="en-US" dirty="0"/>
              <a:t>-Do not read these main points from the PowerPoint, instead elaborate on these points during the speech.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FBD196-C6D4-CB1A-6829-02139A908D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AEB063-7F11-4E3B-BA52-07405B1C2D95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1165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0EB5A9-4EB0-D39F-B0C6-1FEE3A7D1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8C0082-2CAE-B900-5D3C-36E023352F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F547C1-8591-371B-6C21-05B178ED26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Use the background points to post details that are not common knowledge, or that the audience will need to understand the context of the speech.</a:t>
            </a:r>
          </a:p>
          <a:p>
            <a:r>
              <a:rPr lang="en-US" dirty="0"/>
              <a:t>-Do not read these main points from the PowerPoint, instead elaborate on these points during the speech.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017F44-47ED-60F2-FFB2-B3EEF7C861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AEB063-7F11-4E3B-BA52-07405B1C2D95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24639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4B28C-DA86-A477-5C83-F5C4BD504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E49A96-68D7-9011-31C3-14F263A9CA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984551-EACA-2776-03C8-FC7EC965C3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Use the background points to post details that are not common knowledge, or that the audience will need to understand the context of the speech.</a:t>
            </a:r>
          </a:p>
          <a:p>
            <a:r>
              <a:rPr lang="en-US" dirty="0"/>
              <a:t>-Do not read these main points from the PowerPoint, instead elaborate on these points during the speech.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EB9E31-E3AE-0501-E314-E7DF7A1EDF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AEB063-7F11-4E3B-BA52-07405B1C2D95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07330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3F9FE8-ECCE-7534-386C-0ED203FD1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CC0C13-F223-3797-6E55-BC19DF5286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323A6C-39DC-4B2B-80E2-A38D6A6CEC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Use the background points to post details that are not common knowledge, or that the audience will need to understand the context of the speech.</a:t>
            </a:r>
          </a:p>
          <a:p>
            <a:r>
              <a:rPr lang="en-US" dirty="0"/>
              <a:t>-Do not read these main points from the PowerPoint, instead elaborate on these points during the speech.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A4F8D5-E5E2-7AF8-F028-68E3CBBDB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AEB063-7F11-4E3B-BA52-07405B1C2D95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78167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92F72A-A0E9-10B6-7DA2-94738F2B7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BDA86A-DCA8-50B5-CB4A-4B2812EDF0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1228EC-8FA0-2842-D6C6-C19F9C8FBA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Use the background points to post details that are not common knowledge, or that the audience will need to understand the context of the speech.</a:t>
            </a:r>
          </a:p>
          <a:p>
            <a:r>
              <a:rPr lang="en-US" dirty="0"/>
              <a:t>-Do not read these main points from the PowerPoint, instead elaborate on these points during the speech.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92236C-2F5C-85F4-B31D-8E932C0340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AEB063-7F11-4E3B-BA52-07405B1C2D95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23872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AEB063-7F11-4E3B-BA52-07405B1C2D95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66198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381388F-6D01-4763-9497-2C5F78AF5477}"/>
              </a:ext>
            </a:extLst>
          </p:cNvPr>
          <p:cNvSpPr/>
          <p:nvPr userDrawn="1"/>
        </p:nvSpPr>
        <p:spPr>
          <a:xfrm>
            <a:off x="0" y="4818185"/>
            <a:ext cx="12192000" cy="20398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Freeform 6"/>
          <p:cNvSpPr/>
          <p:nvPr/>
        </p:nvSpPr>
        <p:spPr bwMode="ltGray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>
            <a:innerShdw blurRad="63500" dist="50800" dir="5400000">
              <a:prstClr val="black">
                <a:alpha val="50000"/>
              </a:prstClr>
            </a:innerShdw>
          </a:effectLst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L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 algn="ctr">
              <a:defRPr sz="5400" b="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>
            <a:no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F6C47-B260-4BB6-8230-7D14D5CDE026}" type="datetimeFigureOut">
              <a:rPr lang="en-US" noProof="0" smtClean="0"/>
              <a:t>12/14/2025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42799-31AF-4FF8-9D79-C1A3E01FB207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774326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ltGray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ffectLst>
            <a:innerShdw blurRad="63500" dist="50800" dir="5400000">
              <a:prstClr val="black">
                <a:alpha val="50000"/>
              </a:prstClr>
            </a:innerShdw>
          </a:effectLst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  <a:noFill/>
          <a:ln w="25400">
            <a:gradFill>
              <a:gsLst>
                <a:gs pos="50000">
                  <a:schemeClr val="bg2"/>
                </a:gs>
                <a:gs pos="0">
                  <a:schemeClr val="bg2"/>
                </a:gs>
                <a:gs pos="100000">
                  <a:schemeClr val="accent1"/>
                </a:gs>
              </a:gsLst>
              <a:lin ang="5400000" scaled="1"/>
            </a:gra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A4059F8-A688-4FFE-AA79-3B6D811FA9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222287"/>
            <a:ext cx="5181600" cy="36387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3AB4A3-AE75-4D00-9BE1-AF3996C6B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F6C47-B260-4BB6-8230-7D14D5CDE026}" type="datetimeFigureOut">
              <a:rPr lang="en-US" noProof="0" smtClean="0"/>
              <a:t>12/14/2025</a:t>
            </a:fld>
            <a:endParaRPr lang="en-US" noProof="0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471F3C4-BAAF-4391-B574-8E340EDA3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B8DD71F-FEC6-4AB5-974A-FD2B82A7B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42799-31AF-4FF8-9D79-C1A3E01FB207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649104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Content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ltGray">
          <a:xfrm>
            <a:off x="0" y="1"/>
            <a:ext cx="12192000" cy="6251330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1514" y="451513"/>
            <a:ext cx="11288972" cy="5149187"/>
          </a:xfrm>
        </p:spPr>
        <p:txBody>
          <a:bodyPr anchor="ctr" anchorCtr="0"/>
          <a:lstStyle>
            <a:lvl1pPr algn="ctr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40B6DF-7478-4740-A710-DA5E9EBA7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F6C47-B260-4BB6-8230-7D14D5CDE026}" type="datetimeFigureOut">
              <a:rPr lang="en-US" noProof="0" smtClean="0"/>
              <a:t>12/14/2025</a:t>
            </a:fld>
            <a:endParaRPr lang="en-US" noProof="0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2D89951-67E9-4086-AED0-C236A00A5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8553809-8746-49E3-BCB5-0A9FF406C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42799-31AF-4FF8-9D79-C1A3E01FB207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73193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ltGray">
          <a:xfrm flipH="1">
            <a:off x="12699" y="0"/>
            <a:ext cx="6004585" cy="2041975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ffectLst>
            <a:innerShdw blurRad="63500" dist="50800" dir="8100000">
              <a:prstClr val="black">
                <a:alpha val="50000"/>
              </a:prstClr>
            </a:innerShdw>
          </a:effectLst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1514" y="375313"/>
            <a:ext cx="5114017" cy="1139895"/>
          </a:xfrm>
        </p:spPr>
        <p:txBody>
          <a:bodyPr/>
          <a:lstStyle>
            <a:lvl1pPr algn="l">
              <a:defRPr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1514" y="2222287"/>
            <a:ext cx="5553071" cy="3638763"/>
          </a:xfrm>
          <a:ln w="25400">
            <a:gradFill>
              <a:gsLst>
                <a:gs pos="0">
                  <a:schemeClr val="bg2"/>
                </a:gs>
                <a:gs pos="50000">
                  <a:srgbClr val="4A3030"/>
                </a:gs>
                <a:gs pos="100000">
                  <a:schemeClr val="accent1"/>
                </a:gs>
              </a:gsLst>
              <a:lin ang="5400000" scaled="1"/>
            </a:gra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C95D556F-51D2-4EF4-B60F-D319BF23288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56099" y="375312"/>
            <a:ext cx="5186363" cy="5485737"/>
          </a:xfrm>
        </p:spPr>
        <p:txBody>
          <a:bodyPr anchor="t" anchorCtr="0"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3F86C4-C3A0-4CA8-8809-1D90DE9E4D4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B7F6C47-B260-4BB6-8230-7D14D5CDE026}" type="datetimeFigureOut">
              <a:rPr lang="en-US" noProof="0" smtClean="0"/>
              <a:t>12/14/2025</a:t>
            </a:fld>
            <a:endParaRPr lang="en-US" noProof="0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EDD26EA8-C9F2-49A7-8F7B-A782D30B827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41DD2E8-07A6-430F-A2FB-E2746C9352D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4942799-31AF-4FF8-9D79-C1A3E01FB207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5446428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ltGray">
          <a:xfrm flipH="1">
            <a:off x="6187414" y="0"/>
            <a:ext cx="6004583" cy="2041975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ffectLst>
            <a:innerShdw blurRad="63500" dist="50800" dir="2700000">
              <a:prstClr val="black">
                <a:alpha val="50000"/>
              </a:prstClr>
            </a:innerShdw>
          </a:effectLst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32696" y="359551"/>
            <a:ext cx="5114017" cy="1139895"/>
          </a:xfrm>
        </p:spPr>
        <p:txBody>
          <a:bodyPr/>
          <a:lstStyle>
            <a:lvl1pPr algn="l">
              <a:defRPr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1514" y="451513"/>
            <a:ext cx="5553071" cy="5409537"/>
          </a:xfrm>
        </p:spPr>
        <p:txBody>
          <a:bodyPr anchor="t" anchorCtr="0">
            <a:normAutofit/>
          </a:bodyPr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54563" y="2222287"/>
            <a:ext cx="5553071" cy="3638764"/>
          </a:xfrm>
          <a:ln>
            <a:gradFill>
              <a:gsLst>
                <a:gs pos="0">
                  <a:schemeClr val="bg2"/>
                </a:gs>
                <a:gs pos="50000">
                  <a:schemeClr val="bg2"/>
                </a:gs>
                <a:gs pos="100000">
                  <a:schemeClr val="accent1"/>
                </a:gs>
              </a:gsLst>
              <a:lin ang="5400000" scaled="1"/>
            </a:gra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2940641-87D1-48C5-879E-8A5FBA537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F6C47-B260-4BB6-8230-7D14D5CDE026}" type="datetimeFigureOut">
              <a:rPr lang="en-US" noProof="0" smtClean="0"/>
              <a:t>12/14/2025</a:t>
            </a:fld>
            <a:endParaRPr lang="en-US" noProof="0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DBFA68A8-3A7A-430B-9A66-482C28DC5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96C17F98-4E3F-4327-8CCF-D13C33712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42799-31AF-4FF8-9D79-C1A3E01FB207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87031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B2B99B50-4971-48A5-8202-4CC55C7F97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096000" y="0"/>
            <a:ext cx="6096000" cy="6857999"/>
          </a:xfrm>
          <a:custGeom>
            <a:avLst/>
            <a:gdLst>
              <a:gd name="connsiteX0" fmla="*/ 404916 w 6526400"/>
              <a:gd name="connsiteY0" fmla="*/ 0 h 6857999"/>
              <a:gd name="connsiteX1" fmla="*/ 1425163 w 6526400"/>
              <a:gd name="connsiteY1" fmla="*/ 0 h 6857999"/>
              <a:gd name="connsiteX2" fmla="*/ 2955534 w 6526400"/>
              <a:gd name="connsiteY2" fmla="*/ 0 h 6857999"/>
              <a:gd name="connsiteX3" fmla="*/ 6526400 w 6526400"/>
              <a:gd name="connsiteY3" fmla="*/ 0 h 6857999"/>
              <a:gd name="connsiteX4" fmla="*/ 6526400 w 6526400"/>
              <a:gd name="connsiteY4" fmla="*/ 6857999 h 6857999"/>
              <a:gd name="connsiteX5" fmla="*/ 404916 w 6526400"/>
              <a:gd name="connsiteY5" fmla="*/ 6857999 h 6857999"/>
              <a:gd name="connsiteX6" fmla="*/ 377830 w 6526400"/>
              <a:gd name="connsiteY6" fmla="*/ 2463800 h 6857999"/>
              <a:gd name="connsiteX7" fmla="*/ 0 w 6526400"/>
              <a:gd name="connsiteY7" fmla="*/ 2203407 h 6857999"/>
              <a:gd name="connsiteX8" fmla="*/ 391373 w 6526400"/>
              <a:gd name="connsiteY8" fmla="*/ 1854200 h 6857999"/>
              <a:gd name="connsiteX9" fmla="*/ 404916 w 6526400"/>
              <a:gd name="connsiteY9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526400" h="6857999">
                <a:moveTo>
                  <a:pt x="404916" y="0"/>
                </a:moveTo>
                <a:lnTo>
                  <a:pt x="1425163" y="0"/>
                </a:lnTo>
                <a:lnTo>
                  <a:pt x="2955534" y="0"/>
                </a:lnTo>
                <a:lnTo>
                  <a:pt x="6526400" y="0"/>
                </a:lnTo>
                <a:lnTo>
                  <a:pt x="6526400" y="6857999"/>
                </a:lnTo>
                <a:lnTo>
                  <a:pt x="404916" y="6857999"/>
                </a:lnTo>
                <a:lnTo>
                  <a:pt x="377830" y="2463800"/>
                </a:lnTo>
                <a:lnTo>
                  <a:pt x="0" y="2203407"/>
                </a:lnTo>
                <a:lnTo>
                  <a:pt x="391373" y="1854200"/>
                </a:lnTo>
                <a:cubicBezTo>
                  <a:pt x="395887" y="1282700"/>
                  <a:pt x="400402" y="571500"/>
                  <a:pt x="404916" y="0"/>
                </a:cubicBezTo>
                <a:close/>
              </a:path>
            </a:pathLst>
          </a:custGeom>
          <a:ln/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396" y="311813"/>
            <a:ext cx="5334448" cy="1453488"/>
          </a:xfrm>
          <a:effectLst/>
        </p:spPr>
        <p:txBody>
          <a:bodyPr anchor="b">
            <a:normAutofit/>
          </a:bodyPr>
          <a:lstStyle>
            <a:lvl1pPr algn="l">
              <a:defRPr sz="4000" b="0">
                <a:ln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EB4FB892-38DF-40F9-B034-BC1E61FC6B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0396" y="2057400"/>
            <a:ext cx="5334448" cy="3811588"/>
          </a:xfrm>
        </p:spPr>
        <p:txBody>
          <a:bodyPr anchor="t"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29ED24-3C5F-4326-A304-DBDBA6CE7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F6C47-B260-4BB6-8230-7D14D5CDE026}" type="datetimeFigureOut">
              <a:rPr lang="en-US" noProof="0" smtClean="0"/>
              <a:t>12/14/2025</a:t>
            </a:fld>
            <a:endParaRPr lang="en-US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532AEE-3AAE-4FBF-969F-8A364CE8A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717C1A8-7DBE-4E24-BCA1-D820D780B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42799-31AF-4FF8-9D79-C1A3E01FB207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97305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ltGray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ffectLst>
            <a:innerShdw blurRad="63500" dist="50800" dir="5400000">
              <a:prstClr val="black">
                <a:alpha val="50000"/>
              </a:prstClr>
            </a:innerShdw>
          </a:effectLst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810001" y="2222287"/>
            <a:ext cx="10571998" cy="3638764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466CE2-DFEE-46B8-AFB2-817272E3B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F6C47-B260-4BB6-8230-7D14D5CDE026}" type="datetimeFigureOut">
              <a:rPr lang="en-US" noProof="0" smtClean="0"/>
              <a:t>12/14/2025</a:t>
            </a:fld>
            <a:endParaRPr lang="en-US" noProof="0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7E9A94A-136A-4208-8F98-012BDAC1A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1459C8B-DA0F-4808-A642-40471D1D2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42799-31AF-4FF8-9D79-C1A3E01FB207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37688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89884"/>
            <a:ext cx="10561418" cy="1426004"/>
          </a:xfrm>
        </p:spPr>
        <p:txBody>
          <a:bodyPr anchor="ctr" anchorCtr="0">
            <a:normAutofit/>
          </a:bodyPr>
          <a:lstStyle>
            <a:lvl1pPr algn="ctr">
              <a:defRPr sz="4000" b="0">
                <a:ln>
                  <a:noFill/>
                </a:ln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C1FEB3F-0898-4AE0-B8C4-970BF80A3766}"/>
              </a:ext>
            </a:extLst>
          </p:cNvPr>
          <p:cNvSpPr>
            <a:spLocks noGrp="1"/>
          </p:cNvSpPr>
          <p:nvPr>
            <p:ph sz="quarter" idx="14"/>
          </p:nvPr>
        </p:nvSpPr>
        <p:spPr bwMode="ltGray">
          <a:xfrm>
            <a:off x="-5291" y="-57584"/>
            <a:ext cx="12192000" cy="4851400"/>
          </a:xfrm>
          <a:custGeom>
            <a:avLst/>
            <a:gdLst>
              <a:gd name="connsiteX0" fmla="*/ 0 w 10561638"/>
              <a:gd name="connsiteY0" fmla="*/ 0 h 3937000"/>
              <a:gd name="connsiteX1" fmla="*/ 1760273 w 10561638"/>
              <a:gd name="connsiteY1" fmla="*/ 0 h 3937000"/>
              <a:gd name="connsiteX2" fmla="*/ 1760273 w 10561638"/>
              <a:gd name="connsiteY2" fmla="*/ 0 h 3937000"/>
              <a:gd name="connsiteX3" fmla="*/ 4400683 w 10561638"/>
              <a:gd name="connsiteY3" fmla="*/ 0 h 3937000"/>
              <a:gd name="connsiteX4" fmla="*/ 10561638 w 10561638"/>
              <a:gd name="connsiteY4" fmla="*/ 0 h 3937000"/>
              <a:gd name="connsiteX5" fmla="*/ 10561638 w 10561638"/>
              <a:gd name="connsiteY5" fmla="*/ 2296583 h 3937000"/>
              <a:gd name="connsiteX6" fmla="*/ 10561638 w 10561638"/>
              <a:gd name="connsiteY6" fmla="*/ 2296583 h 3937000"/>
              <a:gd name="connsiteX7" fmla="*/ 10561638 w 10561638"/>
              <a:gd name="connsiteY7" fmla="*/ 3280833 h 3937000"/>
              <a:gd name="connsiteX8" fmla="*/ 10561638 w 10561638"/>
              <a:gd name="connsiteY8" fmla="*/ 3937000 h 3937000"/>
              <a:gd name="connsiteX9" fmla="*/ 4400683 w 10561638"/>
              <a:gd name="connsiteY9" fmla="*/ 3937000 h 3937000"/>
              <a:gd name="connsiteX10" fmla="*/ 2077263 w 10561638"/>
              <a:gd name="connsiteY10" fmla="*/ 4251330 h 3937000"/>
              <a:gd name="connsiteX11" fmla="*/ 1760273 w 10561638"/>
              <a:gd name="connsiteY11" fmla="*/ 3937000 h 3937000"/>
              <a:gd name="connsiteX12" fmla="*/ 0 w 10561638"/>
              <a:gd name="connsiteY12" fmla="*/ 3937000 h 3937000"/>
              <a:gd name="connsiteX13" fmla="*/ 0 w 10561638"/>
              <a:gd name="connsiteY13" fmla="*/ 3280833 h 3937000"/>
              <a:gd name="connsiteX14" fmla="*/ 0 w 10561638"/>
              <a:gd name="connsiteY14" fmla="*/ 2296583 h 3937000"/>
              <a:gd name="connsiteX15" fmla="*/ 0 w 10561638"/>
              <a:gd name="connsiteY15" fmla="*/ 2296583 h 3937000"/>
              <a:gd name="connsiteX16" fmla="*/ 0 w 10561638"/>
              <a:gd name="connsiteY16" fmla="*/ 0 h 3937000"/>
              <a:gd name="connsiteX0" fmla="*/ 0 w 10561638"/>
              <a:gd name="connsiteY0" fmla="*/ 0 h 4251330"/>
              <a:gd name="connsiteX1" fmla="*/ 1760273 w 10561638"/>
              <a:gd name="connsiteY1" fmla="*/ 0 h 4251330"/>
              <a:gd name="connsiteX2" fmla="*/ 1760273 w 10561638"/>
              <a:gd name="connsiteY2" fmla="*/ 0 h 4251330"/>
              <a:gd name="connsiteX3" fmla="*/ 4400683 w 10561638"/>
              <a:gd name="connsiteY3" fmla="*/ 0 h 4251330"/>
              <a:gd name="connsiteX4" fmla="*/ 10561638 w 10561638"/>
              <a:gd name="connsiteY4" fmla="*/ 0 h 4251330"/>
              <a:gd name="connsiteX5" fmla="*/ 10561638 w 10561638"/>
              <a:gd name="connsiteY5" fmla="*/ 2296583 h 4251330"/>
              <a:gd name="connsiteX6" fmla="*/ 10561638 w 10561638"/>
              <a:gd name="connsiteY6" fmla="*/ 2296583 h 4251330"/>
              <a:gd name="connsiteX7" fmla="*/ 10561638 w 10561638"/>
              <a:gd name="connsiteY7" fmla="*/ 3280833 h 4251330"/>
              <a:gd name="connsiteX8" fmla="*/ 10561638 w 10561638"/>
              <a:gd name="connsiteY8" fmla="*/ 3937000 h 4251330"/>
              <a:gd name="connsiteX9" fmla="*/ 2482983 w 10561638"/>
              <a:gd name="connsiteY9" fmla="*/ 3975100 h 4251330"/>
              <a:gd name="connsiteX10" fmla="*/ 2077263 w 10561638"/>
              <a:gd name="connsiteY10" fmla="*/ 4251330 h 4251330"/>
              <a:gd name="connsiteX11" fmla="*/ 1760273 w 10561638"/>
              <a:gd name="connsiteY11" fmla="*/ 3937000 h 4251330"/>
              <a:gd name="connsiteX12" fmla="*/ 0 w 10561638"/>
              <a:gd name="connsiteY12" fmla="*/ 3937000 h 4251330"/>
              <a:gd name="connsiteX13" fmla="*/ 0 w 10561638"/>
              <a:gd name="connsiteY13" fmla="*/ 3280833 h 4251330"/>
              <a:gd name="connsiteX14" fmla="*/ 0 w 10561638"/>
              <a:gd name="connsiteY14" fmla="*/ 2296583 h 4251330"/>
              <a:gd name="connsiteX15" fmla="*/ 0 w 10561638"/>
              <a:gd name="connsiteY15" fmla="*/ 2296583 h 4251330"/>
              <a:gd name="connsiteX16" fmla="*/ 0 w 10561638"/>
              <a:gd name="connsiteY16" fmla="*/ 0 h 4251330"/>
              <a:gd name="connsiteX0" fmla="*/ 0 w 10561638"/>
              <a:gd name="connsiteY0" fmla="*/ 0 h 4251330"/>
              <a:gd name="connsiteX1" fmla="*/ 1760273 w 10561638"/>
              <a:gd name="connsiteY1" fmla="*/ 0 h 4251330"/>
              <a:gd name="connsiteX2" fmla="*/ 1760273 w 10561638"/>
              <a:gd name="connsiteY2" fmla="*/ 0 h 4251330"/>
              <a:gd name="connsiteX3" fmla="*/ 4400683 w 10561638"/>
              <a:gd name="connsiteY3" fmla="*/ 0 h 4251330"/>
              <a:gd name="connsiteX4" fmla="*/ 10561638 w 10561638"/>
              <a:gd name="connsiteY4" fmla="*/ 0 h 4251330"/>
              <a:gd name="connsiteX5" fmla="*/ 10561638 w 10561638"/>
              <a:gd name="connsiteY5" fmla="*/ 2296583 h 4251330"/>
              <a:gd name="connsiteX6" fmla="*/ 10561638 w 10561638"/>
              <a:gd name="connsiteY6" fmla="*/ 2296583 h 4251330"/>
              <a:gd name="connsiteX7" fmla="*/ 10561638 w 10561638"/>
              <a:gd name="connsiteY7" fmla="*/ 3280833 h 4251330"/>
              <a:gd name="connsiteX8" fmla="*/ 10561638 w 10561638"/>
              <a:gd name="connsiteY8" fmla="*/ 3937000 h 4251330"/>
              <a:gd name="connsiteX9" fmla="*/ 2343283 w 10561638"/>
              <a:gd name="connsiteY9" fmla="*/ 3987800 h 4251330"/>
              <a:gd name="connsiteX10" fmla="*/ 2077263 w 10561638"/>
              <a:gd name="connsiteY10" fmla="*/ 4251330 h 4251330"/>
              <a:gd name="connsiteX11" fmla="*/ 1760273 w 10561638"/>
              <a:gd name="connsiteY11" fmla="*/ 3937000 h 4251330"/>
              <a:gd name="connsiteX12" fmla="*/ 0 w 10561638"/>
              <a:gd name="connsiteY12" fmla="*/ 3937000 h 4251330"/>
              <a:gd name="connsiteX13" fmla="*/ 0 w 10561638"/>
              <a:gd name="connsiteY13" fmla="*/ 3280833 h 4251330"/>
              <a:gd name="connsiteX14" fmla="*/ 0 w 10561638"/>
              <a:gd name="connsiteY14" fmla="*/ 2296583 h 4251330"/>
              <a:gd name="connsiteX15" fmla="*/ 0 w 10561638"/>
              <a:gd name="connsiteY15" fmla="*/ 2296583 h 4251330"/>
              <a:gd name="connsiteX16" fmla="*/ 0 w 10561638"/>
              <a:gd name="connsiteY16" fmla="*/ 0 h 4251330"/>
              <a:gd name="connsiteX0" fmla="*/ 0 w 10561638"/>
              <a:gd name="connsiteY0" fmla="*/ 0 h 4251330"/>
              <a:gd name="connsiteX1" fmla="*/ 1760273 w 10561638"/>
              <a:gd name="connsiteY1" fmla="*/ 0 h 4251330"/>
              <a:gd name="connsiteX2" fmla="*/ 1760273 w 10561638"/>
              <a:gd name="connsiteY2" fmla="*/ 0 h 4251330"/>
              <a:gd name="connsiteX3" fmla="*/ 4400683 w 10561638"/>
              <a:gd name="connsiteY3" fmla="*/ 0 h 4251330"/>
              <a:gd name="connsiteX4" fmla="*/ 10561638 w 10561638"/>
              <a:gd name="connsiteY4" fmla="*/ 0 h 4251330"/>
              <a:gd name="connsiteX5" fmla="*/ 10561638 w 10561638"/>
              <a:gd name="connsiteY5" fmla="*/ 2296583 h 4251330"/>
              <a:gd name="connsiteX6" fmla="*/ 10561638 w 10561638"/>
              <a:gd name="connsiteY6" fmla="*/ 2296583 h 4251330"/>
              <a:gd name="connsiteX7" fmla="*/ 10561638 w 10561638"/>
              <a:gd name="connsiteY7" fmla="*/ 3280833 h 4251330"/>
              <a:gd name="connsiteX8" fmla="*/ 10561638 w 10561638"/>
              <a:gd name="connsiteY8" fmla="*/ 3937000 h 4251330"/>
              <a:gd name="connsiteX9" fmla="*/ 2343283 w 10561638"/>
              <a:gd name="connsiteY9" fmla="*/ 3962400 h 4251330"/>
              <a:gd name="connsiteX10" fmla="*/ 2077263 w 10561638"/>
              <a:gd name="connsiteY10" fmla="*/ 4251330 h 4251330"/>
              <a:gd name="connsiteX11" fmla="*/ 1760273 w 10561638"/>
              <a:gd name="connsiteY11" fmla="*/ 3937000 h 4251330"/>
              <a:gd name="connsiteX12" fmla="*/ 0 w 10561638"/>
              <a:gd name="connsiteY12" fmla="*/ 3937000 h 4251330"/>
              <a:gd name="connsiteX13" fmla="*/ 0 w 10561638"/>
              <a:gd name="connsiteY13" fmla="*/ 3280833 h 4251330"/>
              <a:gd name="connsiteX14" fmla="*/ 0 w 10561638"/>
              <a:gd name="connsiteY14" fmla="*/ 2296583 h 4251330"/>
              <a:gd name="connsiteX15" fmla="*/ 0 w 10561638"/>
              <a:gd name="connsiteY15" fmla="*/ 2296583 h 4251330"/>
              <a:gd name="connsiteX16" fmla="*/ 0 w 10561638"/>
              <a:gd name="connsiteY16" fmla="*/ 0 h 4251330"/>
              <a:gd name="connsiteX0" fmla="*/ 0 w 10561638"/>
              <a:gd name="connsiteY0" fmla="*/ 0 h 4251330"/>
              <a:gd name="connsiteX1" fmla="*/ 1760273 w 10561638"/>
              <a:gd name="connsiteY1" fmla="*/ 0 h 4251330"/>
              <a:gd name="connsiteX2" fmla="*/ 1760273 w 10561638"/>
              <a:gd name="connsiteY2" fmla="*/ 0 h 4251330"/>
              <a:gd name="connsiteX3" fmla="*/ 4400683 w 10561638"/>
              <a:gd name="connsiteY3" fmla="*/ 0 h 4251330"/>
              <a:gd name="connsiteX4" fmla="*/ 10561638 w 10561638"/>
              <a:gd name="connsiteY4" fmla="*/ 0 h 4251330"/>
              <a:gd name="connsiteX5" fmla="*/ 10561638 w 10561638"/>
              <a:gd name="connsiteY5" fmla="*/ 2296583 h 4251330"/>
              <a:gd name="connsiteX6" fmla="*/ 10561638 w 10561638"/>
              <a:gd name="connsiteY6" fmla="*/ 2296583 h 4251330"/>
              <a:gd name="connsiteX7" fmla="*/ 10561638 w 10561638"/>
              <a:gd name="connsiteY7" fmla="*/ 3280833 h 4251330"/>
              <a:gd name="connsiteX8" fmla="*/ 10561638 w 10561638"/>
              <a:gd name="connsiteY8" fmla="*/ 3937000 h 4251330"/>
              <a:gd name="connsiteX9" fmla="*/ 2343283 w 10561638"/>
              <a:gd name="connsiteY9" fmla="*/ 3924300 h 4251330"/>
              <a:gd name="connsiteX10" fmla="*/ 2077263 w 10561638"/>
              <a:gd name="connsiteY10" fmla="*/ 4251330 h 4251330"/>
              <a:gd name="connsiteX11" fmla="*/ 1760273 w 10561638"/>
              <a:gd name="connsiteY11" fmla="*/ 3937000 h 4251330"/>
              <a:gd name="connsiteX12" fmla="*/ 0 w 10561638"/>
              <a:gd name="connsiteY12" fmla="*/ 3937000 h 4251330"/>
              <a:gd name="connsiteX13" fmla="*/ 0 w 10561638"/>
              <a:gd name="connsiteY13" fmla="*/ 3280833 h 4251330"/>
              <a:gd name="connsiteX14" fmla="*/ 0 w 10561638"/>
              <a:gd name="connsiteY14" fmla="*/ 2296583 h 4251330"/>
              <a:gd name="connsiteX15" fmla="*/ 0 w 10561638"/>
              <a:gd name="connsiteY15" fmla="*/ 2296583 h 4251330"/>
              <a:gd name="connsiteX16" fmla="*/ 0 w 10561638"/>
              <a:gd name="connsiteY16" fmla="*/ 0 h 4251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561638" h="4251330">
                <a:moveTo>
                  <a:pt x="0" y="0"/>
                </a:moveTo>
                <a:lnTo>
                  <a:pt x="1760273" y="0"/>
                </a:lnTo>
                <a:lnTo>
                  <a:pt x="1760273" y="0"/>
                </a:lnTo>
                <a:lnTo>
                  <a:pt x="4400683" y="0"/>
                </a:lnTo>
                <a:lnTo>
                  <a:pt x="10561638" y="0"/>
                </a:lnTo>
                <a:lnTo>
                  <a:pt x="10561638" y="2296583"/>
                </a:lnTo>
                <a:lnTo>
                  <a:pt x="10561638" y="2296583"/>
                </a:lnTo>
                <a:lnTo>
                  <a:pt x="10561638" y="3280833"/>
                </a:lnTo>
                <a:lnTo>
                  <a:pt x="10561638" y="3937000"/>
                </a:lnTo>
                <a:lnTo>
                  <a:pt x="2343283" y="3924300"/>
                </a:lnTo>
                <a:lnTo>
                  <a:pt x="2077263" y="4251330"/>
                </a:lnTo>
                <a:lnTo>
                  <a:pt x="1760273" y="3937000"/>
                </a:lnTo>
                <a:lnTo>
                  <a:pt x="0" y="3937000"/>
                </a:lnTo>
                <a:lnTo>
                  <a:pt x="0" y="3280833"/>
                </a:lnTo>
                <a:lnTo>
                  <a:pt x="0" y="2296583"/>
                </a:lnTo>
                <a:lnTo>
                  <a:pt x="0" y="22965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duotone>
                <a:schemeClr val="accent1">
                  <a:tint val="98000"/>
                  <a:lumMod val="102000"/>
                </a:schemeClr>
                <a:schemeClr val="accent1">
                  <a:shade val="98000"/>
                  <a:lumMod val="98000"/>
                </a:schemeClr>
              </a:duotone>
            </a:blip>
            <a:tile tx="0" ty="0" sx="100000" sy="100000" flip="none" algn="tl"/>
          </a:blipFill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FE71A4-2AD7-44A1-9075-3AB1A226C1C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FB7F6C47-B260-4BB6-8230-7D14D5CDE026}" type="datetimeFigureOut">
              <a:rPr lang="en-US" noProof="0" smtClean="0"/>
              <a:t>12/14/2025</a:t>
            </a:fld>
            <a:endParaRPr lang="en-US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5F74D3-28C0-4AA1-8508-75D32DA3C2A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7D83112-B341-46D2-8B30-46DBC3DAE35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4942799-31AF-4FF8-9D79-C1A3E01FB207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311174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ltGray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ffectLst>
            <a:innerShdw blurRad="63500" dist="50800" dir="5400000">
              <a:prstClr val="black">
                <a:alpha val="50000"/>
              </a:prstClr>
            </a:innerShdw>
          </a:effectLst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 anchor="ctr" anchorCtr="0"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913A633-0BBE-491F-94FD-A319FC7D2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F6C47-B260-4BB6-8230-7D14D5CDE026}" type="datetimeFigureOut">
              <a:rPr lang="en-US" noProof="0" smtClean="0"/>
              <a:t>12/14/2025</a:t>
            </a:fld>
            <a:endParaRPr lang="en-US" noProof="0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16FEDE-3F7F-4F2C-A341-BDA56AA7C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1EE25F-3E3B-45D3-B259-498E69BF2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42799-31AF-4FF8-9D79-C1A3E01FB207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2402816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ltGray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606669"/>
            <a:ext cx="10561418" cy="3813527"/>
          </a:xfrm>
        </p:spPr>
        <p:txBody>
          <a:bodyPr anchor="ctr" anchorCtr="0"/>
          <a:lstStyle>
            <a:lvl1pPr algn="ctr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ctr" anchorCtr="0">
            <a:no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F5D18E-4241-429D-BEDB-6A7415C52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F6C47-B260-4BB6-8230-7D14D5CDE026}" type="datetimeFigureOut">
              <a:rPr lang="en-US" noProof="0" smtClean="0"/>
              <a:t>12/14/2025</a:t>
            </a:fld>
            <a:endParaRPr lang="en-US" noProof="0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5CFD55-6AD5-4B7E-AC33-483174EF1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4D43F5-DCFF-4B29-AC19-0BF28605B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42799-31AF-4FF8-9D79-C1A3E01FB207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76405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ltGray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ffectLst>
            <a:innerShdw blurRad="63500" dist="50800" dir="5400000">
              <a:prstClr val="black">
                <a:alpha val="50000"/>
              </a:prstClr>
            </a:innerShdw>
          </a:effectLst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B3473E37-6504-470F-92FA-792C3ACA4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F6C47-B260-4BB6-8230-7D14D5CDE026}" type="datetimeFigureOut">
              <a:rPr lang="en-US" noProof="0" smtClean="0"/>
              <a:t>12/14/2025</a:t>
            </a:fld>
            <a:endParaRPr lang="en-US" noProof="0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7523DE74-18E2-4EF3-A1FC-8A32CCFE2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51B4AF82-5505-4A7E-AA81-139F21451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42799-31AF-4FF8-9D79-C1A3E01FB207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506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ltGray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ffectLst>
            <a:innerShdw blurRad="63500" dist="50800" dir="5400000">
              <a:prstClr val="black">
                <a:alpha val="50000"/>
              </a:prstClr>
            </a:innerShdw>
          </a:effectLst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>
            <a:lvl1pPr>
              <a:defRPr b="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AF03C3-E3F3-4845-8D9E-9BD2A6767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F6C47-B260-4BB6-8230-7D14D5CDE026}" type="datetimeFigureOut">
              <a:rPr lang="en-US" noProof="0" smtClean="0"/>
              <a:t>12/14/2025</a:t>
            </a:fld>
            <a:endParaRPr lang="en-US" noProof="0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9C7230-29FF-42F2-A662-1BC1D19C5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EBD02D-5A68-4A14-892F-DE4953F2E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42799-31AF-4FF8-9D79-C1A3E01FB207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981268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6D14D8-4D13-4DFE-938B-B710F891B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F6C47-B260-4BB6-8230-7D14D5CDE026}" type="datetimeFigureOut">
              <a:rPr lang="en-US" noProof="0" smtClean="0"/>
              <a:t>12/14/2025</a:t>
            </a:fld>
            <a:endParaRPr lang="en-US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64B8A5-6021-4208-A587-B45576E66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C96ABC-E632-4853-B7CC-A2FB4B7CF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42799-31AF-4FF8-9D79-C1A3E01FB207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403657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ltGray">
          <a:xfrm>
            <a:off x="1073151" y="446087"/>
            <a:ext cx="3547533" cy="2838449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ffectLst>
            <a:innerShdw blurRad="114300">
              <a:prstClr val="black"/>
            </a:innerShdw>
          </a:effectLst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2576512"/>
          </a:xfrm>
        </p:spPr>
        <p:txBody>
          <a:bodyPr anchor="ctr" anchorCtr="0"/>
          <a:lstStyle>
            <a:lvl1pPr algn="l">
              <a:defRPr sz="4000" b="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073151" y="3022600"/>
            <a:ext cx="3547533" cy="2838449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BF97433-9C09-4B71-A1E0-24F75011D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F6C47-B260-4BB6-8230-7D14D5CDE026}" type="datetimeFigureOut">
              <a:rPr lang="en-US" noProof="0" smtClean="0"/>
              <a:t>12/14/2025</a:t>
            </a:fld>
            <a:endParaRPr lang="en-US" noProof="0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EDA271-FE91-46E6-ABB5-0A3AD2448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44DCFF3-B944-4C24-A12C-689D1FF79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42799-31AF-4FF8-9D79-C1A3E01FB207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056117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ltGray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  <a:effectLst>
            <a:innerShdw blurRad="114300">
              <a:prstClr val="black"/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ctr" anchorCtr="0"/>
          <a:lstStyle>
            <a:lvl1pPr algn="l">
              <a:defRPr sz="4000" b="0" cap="none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7574642" y="1081456"/>
            <a:ext cx="3810001" cy="4075465"/>
          </a:xfrm>
        </p:spPr>
        <p:txBody>
          <a:bodyPr anchor="t" anchorCtr="0">
            <a:normAutofit/>
          </a:bodyPr>
          <a:lstStyle>
            <a:lvl1pPr marL="0" indent="0" algn="l">
              <a:buFontTx/>
              <a:buNone/>
              <a:defRPr sz="2800"/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64F81E-11BA-4BB3-AC2C-0A729DC676E6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FB7F6C47-B260-4BB6-8230-7D14D5CDE026}" type="datetimeFigureOut">
              <a:rPr lang="en-US" noProof="0" smtClean="0"/>
              <a:t>12/14/2025</a:t>
            </a:fld>
            <a:endParaRPr lang="en-US" noProof="0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93A4488-E8DE-4FEB-88F9-B37F95CC838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F909D08-1E53-42D5-954B-F61B5083645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A4942799-31AF-4FF8-9D79-C1A3E01FB207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409645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ltGray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  <a:effectLst>
            <a:innerShdw blurRad="114300">
              <a:prstClr val="black"/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 anchor="ctr" anchorCtr="0"/>
          <a:lstStyle>
            <a:lvl1pPr algn="l">
              <a:defRPr sz="4000" b="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6156000" y="2286000"/>
            <a:ext cx="4880300" cy="2295525"/>
          </a:xfrm>
        </p:spPr>
        <p:txBody>
          <a:bodyPr anchor="ctr" anchorCtr="0">
            <a:normAutofit/>
          </a:bodyPr>
          <a:lstStyle>
            <a:lvl1pPr marL="0" indent="0" algn="ctr">
              <a:buFontTx/>
              <a:buNone/>
              <a:defRPr sz="2800"/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142ECB-4FB1-4B01-80F3-04208C781B16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FB7F6C47-B260-4BB6-8230-7D14D5CDE026}" type="datetimeFigureOut">
              <a:rPr lang="en-US" noProof="0" smtClean="0"/>
              <a:t>12/14/2025</a:t>
            </a:fld>
            <a:endParaRPr lang="en-US" noProof="0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76F215A-F354-440E-A263-A920F595083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90FC50C-9C02-4BD6-9CBE-6880E1297783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A4942799-31AF-4FF8-9D79-C1A3E01FB207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68461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ltGray">
          <a:xfrm>
            <a:off x="7669651" y="0"/>
            <a:ext cx="4522349" cy="5861051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ffectLst>
            <a:innerShdw blurRad="63500" dist="50800" dir="8100000">
              <a:prstClr val="black">
                <a:alpha val="50000"/>
              </a:prstClr>
            </a:innerShdw>
          </a:effectLst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3754460" cy="5134798"/>
          </a:xfrm>
        </p:spPr>
        <p:txBody>
          <a:bodyPr vert="horz" anchor="ctr" anchorCtr="1"/>
          <a:lstStyle>
            <a:lvl1pPr algn="l">
              <a:defRPr b="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810001" y="446089"/>
            <a:ext cx="6611540" cy="5414962"/>
          </a:xfrm>
        </p:spPr>
        <p:txBody>
          <a:bodyPr vert="horz" anchor="ctr" anchorCtr="1"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7128B4-F868-4384-A8AA-473DA3516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F6C47-B260-4BB6-8230-7D14D5CDE026}" type="datetimeFigureOut">
              <a:rPr lang="en-US" noProof="0" smtClean="0"/>
              <a:t>12/14/2025</a:t>
            </a:fld>
            <a:endParaRPr lang="en-US" noProof="0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FF940D-9281-4C2A-BA62-E5854A11F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B1454F-842C-4F51-A7E7-0335B2FB1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42799-31AF-4FF8-9D79-C1A3E01FB207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836948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blackWhite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/>
        </p:spPr>
        <p:txBody>
          <a:bodyPr vert="horz" lIns="91440" tIns="45720" rIns="91440" bIns="45720" rtlCol="0" anchor="ctr" anchorCtr="0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FB7F6C47-B260-4BB6-8230-7D14D5CDE026}" type="datetimeFigureOut">
              <a:rPr lang="en-US" noProof="0" smtClean="0"/>
              <a:t>12/14/2025</a:t>
            </a:fld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A4942799-31AF-4FF8-9D79-C1A3E01FB207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89481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6" r:id="rId2"/>
    <p:sldLayoutId id="2147483687" r:id="rId3"/>
    <p:sldLayoutId id="2147483688" r:id="rId4"/>
    <p:sldLayoutId id="2147483689" r:id="rId5"/>
    <p:sldLayoutId id="2147483681" r:id="rId6"/>
    <p:sldLayoutId id="2147483690" r:id="rId7"/>
    <p:sldLayoutId id="2147483682" r:id="rId8"/>
    <p:sldLayoutId id="2147483674" r:id="rId9"/>
    <p:sldLayoutId id="2147483675" r:id="rId10"/>
    <p:sldLayoutId id="2147483677" r:id="rId11"/>
    <p:sldLayoutId id="2147483678" r:id="rId12"/>
    <p:sldLayoutId id="2147483679" r:id="rId13"/>
    <p:sldLayoutId id="2147483680" r:id="rId14"/>
    <p:sldLayoutId id="2147483683" r:id="rId15"/>
    <p:sldLayoutId id="2147483684" r:id="rId16"/>
    <p:sldLayoutId id="2147483686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000" b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0000"/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0000"/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0000"/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0000"/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0000"/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play.google.com/store/apps/details?id=com.spinthewheeldecider&amp;hl=en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play.google.com/store/apps/details?id=com.tendadigital.chwaziApp&amp;hl=en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play.google.com/store/apps/details?id=com.dev2a.choose&amp;hl=en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grayWhite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D37BC-7D91-4F83-845D-70080D7DD6FC}"/>
              </a:ext>
            </a:extLst>
          </p:cNvPr>
          <p:cNvSpPr>
            <a:spLocks noGrp="1"/>
          </p:cNvSpPr>
          <p:nvPr>
            <p:ph type="ctrTitle"/>
          </p:nvPr>
        </p:nvSpPr>
        <p:spPr bwMode="black"/>
        <p:txBody>
          <a:bodyPr/>
          <a:lstStyle/>
          <a:p>
            <a:r>
              <a:rPr lang="en-US" b="0" dirty="0"/>
              <a:t>Random Picker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E5DACC-1D74-41AD-B036-C015472B94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7364" y="5614802"/>
            <a:ext cx="10572000" cy="434974"/>
          </a:xfrm>
        </p:spPr>
        <p:txBody>
          <a:bodyPr>
            <a:normAutofit lnSpcReduction="10000"/>
          </a:bodyPr>
          <a:lstStyle/>
          <a:p>
            <a:pPr algn="l"/>
            <a:r>
              <a:rPr lang="en-US" dirty="0"/>
              <a:t>[261025201]    Sheera </a:t>
            </a:r>
            <a:r>
              <a:rPr lang="en-US" sz="2400" dirty="0"/>
              <a:t>Ner-Gaon     209921550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58E2AE6C-39F8-5AF7-0B47-69BA897847A3}"/>
              </a:ext>
            </a:extLst>
          </p:cNvPr>
          <p:cNvSpPr txBox="1">
            <a:spLocks/>
          </p:cNvSpPr>
          <p:nvPr/>
        </p:nvSpPr>
        <p:spPr>
          <a:xfrm>
            <a:off x="811305" y="3429000"/>
            <a:ext cx="9660563" cy="979484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A quick random picker that lets you save and manage all your raffle groups!</a:t>
            </a:r>
            <a:endParaRPr lang="en-US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39758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2C4768-1880-ACFB-2083-EA0A368256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0635" y="2444923"/>
            <a:ext cx="10317480" cy="363876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300" b="1" u="sng" dirty="0"/>
              <a:t>The Problem</a:t>
            </a:r>
          </a:p>
          <a:p>
            <a:pPr marL="0" indent="0">
              <a:buNone/>
            </a:pPr>
            <a:r>
              <a:rPr lang="en-US" dirty="0"/>
              <a:t>Two major pain points exist:</a:t>
            </a:r>
          </a:p>
          <a:p>
            <a:pPr marL="0" indent="0">
              <a:buNone/>
            </a:pPr>
            <a:r>
              <a:rPr lang="en-US" u="sng" dirty="0"/>
              <a:t>decision-making</a:t>
            </a:r>
            <a:r>
              <a:rPr lang="en-US" b="1" dirty="0"/>
              <a:t>:</a:t>
            </a:r>
            <a:r>
              <a:rPr lang="en-US" dirty="0"/>
              <a:t> Users need a simple, impartial way to pick a winner.</a:t>
            </a:r>
          </a:p>
          <a:p>
            <a:pPr marL="0" indent="0">
              <a:buNone/>
            </a:pPr>
            <a:r>
              <a:rPr lang="en-US" u="sng" dirty="0"/>
              <a:t>Repetition</a:t>
            </a:r>
            <a:r>
              <a:rPr lang="en-US" b="1" dirty="0"/>
              <a:t>:</a:t>
            </a:r>
            <a:r>
              <a:rPr lang="en-US" dirty="0"/>
              <a:t> Frequent users (teachers, managers) waste too much time manually re-typing the same participant lists over and over. They lack secure group management.</a:t>
            </a:r>
          </a:p>
          <a:p>
            <a:pPr marL="0" indent="0">
              <a:buNone/>
            </a:pPr>
            <a:r>
              <a:rPr lang="en-US" sz="2300" b="1" u="sng" dirty="0"/>
              <a:t>The Solution: The Random Picker App</a:t>
            </a:r>
          </a:p>
          <a:p>
            <a:pPr marL="0" indent="0">
              <a:buNone/>
            </a:pPr>
            <a:r>
              <a:rPr lang="en-US" dirty="0"/>
              <a:t>My app solves both issues with a strategic Freemium model:</a:t>
            </a:r>
          </a:p>
          <a:p>
            <a:pPr marL="0" indent="0">
              <a:buNone/>
            </a:pPr>
            <a:r>
              <a:rPr lang="en-US" u="sng" dirty="0"/>
              <a:t>Free: </a:t>
            </a:r>
            <a:r>
              <a:rPr lang="en-US" dirty="0"/>
              <a:t>Instant, engaging Quick Raffle for one-off needs.</a:t>
            </a:r>
          </a:p>
          <a:p>
            <a:pPr marL="0" indent="0">
              <a:buNone/>
            </a:pPr>
            <a:r>
              <a:rPr lang="en-US" u="sng" dirty="0"/>
              <a:t>Premium: </a:t>
            </a:r>
            <a:r>
              <a:rPr lang="en-US" dirty="0"/>
              <a:t>A subscription unlocks Group Management (powered by Firebase), eliminating repetitive entry and creating a vital utility for organizers.</a:t>
            </a:r>
          </a:p>
          <a:p>
            <a:pPr marL="0" indent="0">
              <a:buNone/>
            </a:pPr>
            <a:endParaRPr lang="en-IL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BEC770E-3585-A096-2BDF-167B92D78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625" y="447675"/>
            <a:ext cx="10572750" cy="969963"/>
          </a:xfrm>
        </p:spPr>
        <p:txBody>
          <a:bodyPr>
            <a:normAutofit/>
          </a:bodyPr>
          <a:lstStyle/>
          <a:p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The problem and the proposed solution</a:t>
            </a:r>
          </a:p>
        </p:txBody>
      </p:sp>
    </p:spTree>
    <p:extLst>
      <p:ext uri="{BB962C8B-B14F-4D97-AF65-F5344CB8AC3E}">
        <p14:creationId xmlns:p14="http://schemas.microsoft.com/office/powerpoint/2010/main" val="20014805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C5B87-8682-7CCA-1ACD-22535BB3A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Target Users</a:t>
            </a:r>
            <a:endParaRPr lang="en-IL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0C9DF1-D45F-C788-FC65-E2B4CA76A0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00878" y="2444923"/>
            <a:ext cx="11104660" cy="4188525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sz="1900" b="1" dirty="0"/>
              <a:t>My app is designed for people who need to be impartial and efficient when dealing with groups. I see two main groups of users:</a:t>
            </a:r>
          </a:p>
          <a:p>
            <a:pPr marL="0" indent="0">
              <a:buNone/>
            </a:pPr>
            <a:r>
              <a:rPr lang="en-US" sz="2100" u="sng" dirty="0"/>
              <a:t>The Power User (The Subscriber):</a:t>
            </a:r>
            <a:r>
              <a:rPr lang="en-US" sz="2100" dirty="0"/>
              <a:t> </a:t>
            </a:r>
            <a:r>
              <a:rPr lang="en-US" dirty="0"/>
              <a:t>These are the true organizers, such as Teachers, Managers, and Coaches.</a:t>
            </a:r>
          </a:p>
          <a:p>
            <a:pPr marL="457200" lvl="1" indent="0">
              <a:buNone/>
            </a:pPr>
            <a:r>
              <a:rPr lang="en-US" sz="1900" u="sng" dirty="0"/>
              <a:t>Main Goal: </a:t>
            </a:r>
            <a:r>
              <a:rPr lang="en-US" sz="1900" dirty="0"/>
              <a:t>Their goal is to save time and maintain a fair, repeatable method for participant selection. They need to easily reuse their class lists, team rosters, or project groups.</a:t>
            </a:r>
          </a:p>
          <a:p>
            <a:pPr marL="457200" lvl="1" indent="0">
              <a:buNone/>
            </a:pPr>
            <a:r>
              <a:rPr lang="en-US" sz="1900" u="sng" dirty="0"/>
              <a:t>Key Traits: </a:t>
            </a:r>
            <a:r>
              <a:rPr lang="en-US" sz="1900" dirty="0"/>
              <a:t>They are generally organized, have medium-to-high tech proficiency, and value efficiency.</a:t>
            </a:r>
          </a:p>
          <a:p>
            <a:pPr marL="457200" lvl="1" indent="0">
              <a:buNone/>
            </a:pPr>
            <a:r>
              <a:rPr lang="en-US" sz="1900" dirty="0"/>
              <a:t>Usage Frequency: They will use the app daily or multiple times a week. For them, the ability to save groups via subscription is essential for their workflow.</a:t>
            </a:r>
          </a:p>
          <a:p>
            <a:pPr marL="0" indent="0">
              <a:buNone/>
            </a:pPr>
            <a:r>
              <a:rPr lang="en-US" sz="1900" u="sng" dirty="0"/>
              <a:t>The Quick User (The Free User):</a:t>
            </a:r>
            <a:r>
              <a:rPr lang="en-US" sz="1900" dirty="0"/>
              <a:t> </a:t>
            </a:r>
            <a:r>
              <a:rPr lang="en-US" dirty="0"/>
              <a:t>These are people with a spontaneous need, such as Friends, Family Organizers, and Social Event Hosts.</a:t>
            </a:r>
          </a:p>
          <a:p>
            <a:pPr marL="457200" lvl="1" indent="0">
              <a:buNone/>
            </a:pPr>
            <a:r>
              <a:rPr lang="en-US" sz="1900" u="sng" dirty="0"/>
              <a:t>Main Goal: </a:t>
            </a:r>
            <a:r>
              <a:rPr lang="en-US" sz="1900" dirty="0"/>
              <a:t>They want an instant, fun, and fair way to pick one name right now without creating an account or saving a list.</a:t>
            </a:r>
          </a:p>
          <a:p>
            <a:pPr marL="457200" lvl="1" indent="0">
              <a:buNone/>
            </a:pPr>
            <a:r>
              <a:rPr lang="en-US" sz="1900" u="sng" dirty="0"/>
              <a:t>Usage Frequency: </a:t>
            </a:r>
            <a:r>
              <a:rPr lang="en-US" sz="1900" dirty="0"/>
              <a:t>They use the app monthly or intermittently. They are drawn in by the free Quick Raffle feature and provide a strong base for future growth.</a:t>
            </a:r>
          </a:p>
        </p:txBody>
      </p:sp>
    </p:spTree>
    <p:extLst>
      <p:ext uri="{BB962C8B-B14F-4D97-AF65-F5344CB8AC3E}">
        <p14:creationId xmlns:p14="http://schemas.microsoft.com/office/powerpoint/2010/main" val="35469904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6B58F-1CF7-41B5-BF70-710D7AC79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Market Research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FF1311-DD92-45BA-B10F-C1A324C27B55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809625" y="2222500"/>
            <a:ext cx="5186363" cy="363855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Search keywords:</a:t>
            </a:r>
          </a:p>
          <a:p>
            <a:r>
              <a:rPr lang="en-US" dirty="0"/>
              <a:t>Random name</a:t>
            </a:r>
          </a:p>
          <a:p>
            <a:r>
              <a:rPr lang="en-US" dirty="0"/>
              <a:t>Random picker</a:t>
            </a:r>
          </a:p>
          <a:p>
            <a:r>
              <a:rPr lang="en-US" dirty="0"/>
              <a:t>Name raffle</a:t>
            </a:r>
          </a:p>
          <a:p>
            <a:r>
              <a:rPr lang="en-US" dirty="0"/>
              <a:t>Raffle wheel</a:t>
            </a:r>
          </a:p>
          <a:p>
            <a:r>
              <a:rPr lang="en-US" dirty="0"/>
              <a:t>Spin the wheel</a:t>
            </a:r>
          </a:p>
          <a:p>
            <a:r>
              <a:rPr lang="en-US" dirty="0"/>
              <a:t>Names draw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Best +1M downloads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A86C41E-64E3-BB10-C07D-00DBA65857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0546" y="1978643"/>
            <a:ext cx="4214826" cy="339018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127920B-D400-8AB9-CCC0-2EE3894177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3428" y="2023646"/>
            <a:ext cx="4292759" cy="336314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83B2E5D-BE31-93A6-046E-08389D431A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0546" y="5386794"/>
            <a:ext cx="4266677" cy="116496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52EDC06-EC12-1CA5-6A7C-751D12893A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3428" y="5368829"/>
            <a:ext cx="4214006" cy="1164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0437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C8C800-59FA-0811-B739-26695DC74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D8434-1548-C7D0-CD63-4E6DA2C44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Market Research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F3A0C5-6EDD-65BA-927D-C016B475295F}"/>
              </a:ext>
            </a:extLst>
          </p:cNvPr>
          <p:cNvSpPr txBox="1">
            <a:spLocks noGrp="1"/>
          </p:cNvSpPr>
          <p:nvPr>
            <p:ph sz="half" idx="4294967295"/>
          </p:nvPr>
        </p:nvSpPr>
        <p:spPr>
          <a:xfrm>
            <a:off x="809625" y="2222500"/>
            <a:ext cx="5186363" cy="36385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>
              <a:buNone/>
            </a:pPr>
            <a:r>
              <a:rPr lang="en-US" sz="1400" i="0" u="sng" dirty="0">
                <a:solidFill>
                  <a:srgbClr val="202124"/>
                </a:solidFill>
                <a:effectLst/>
                <a:latin typeface="+mj-lt"/>
              </a:rPr>
              <a:t>Spin The Wheel - Random Picker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cs typeface="Arial" panose="020B0604020202020204" pitchFamily="34" charset="0"/>
                <a:hlinkClick r:id="rId3"/>
              </a:rPr>
              <a:t>Link</a:t>
            </a:r>
            <a:endParaRPr 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  <a:cs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1400" dirty="0">
                <a:latin typeface="+mj-lt"/>
                <a:cs typeface="Arial" panose="020B0604020202020204" pitchFamily="34" charset="0"/>
              </a:rPr>
              <a:t>Released on Sep 16, 2018</a:t>
            </a:r>
            <a:br>
              <a:rPr lang="en-US" sz="1400" dirty="0">
                <a:latin typeface="+mj-lt"/>
                <a:cs typeface="Arial" panose="020B0604020202020204" pitchFamily="34" charset="0"/>
              </a:rPr>
            </a:br>
            <a:r>
              <a:rPr lang="en-US" sz="1400" dirty="0">
                <a:latin typeface="+mj-lt"/>
                <a:cs typeface="Arial" panose="020B0604020202020204" pitchFamily="34" charset="0"/>
              </a:rPr>
              <a:t>Last Updated on Oct 10, 2025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1400" dirty="0">
                <a:latin typeface="+mj-lt"/>
                <a:cs typeface="Arial" panose="020B0604020202020204" pitchFamily="34" charset="0"/>
              </a:rPr>
              <a:t>Downloads: 10,000,000+ downloads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1400" dirty="0">
                <a:latin typeface="+mj-lt"/>
                <a:cs typeface="Arial" panose="020B0604020202020204" pitchFamily="34" charset="0"/>
              </a:rPr>
              <a:t>Rating 4.8 – 136k reviews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1400" dirty="0">
                <a:latin typeface="+mj-lt"/>
                <a:cs typeface="Arial" panose="020B0604020202020204" pitchFamily="34" charset="0"/>
              </a:rPr>
              <a:t>In-app purchases: ₪24.00 per item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1400" dirty="0">
                <a:latin typeface="+mj-lt"/>
                <a:cs typeface="Arial" panose="020B0604020202020204" pitchFamily="34" charset="0"/>
              </a:rPr>
              <a:t>Contains ads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175AEA11-E4F0-D83B-3AAE-2046B2EF2DD0}"/>
              </a:ext>
            </a:extLst>
          </p:cNvPr>
          <p:cNvSpPr txBox="1">
            <a:spLocks/>
          </p:cNvSpPr>
          <p:nvPr/>
        </p:nvSpPr>
        <p:spPr>
          <a:xfrm>
            <a:off x="6181386" y="1992345"/>
            <a:ext cx="4643467" cy="48197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1400" u="sng" dirty="0">
                <a:latin typeface="+mj-lt"/>
                <a:cs typeface="Arial" panose="020B0604020202020204" pitchFamily="34" charset="0"/>
              </a:rPr>
              <a:t>Main features: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400" dirty="0">
                <a:latin typeface="+mj-lt"/>
                <a:cs typeface="Arial" panose="020B0604020202020204" pitchFamily="34" charset="0"/>
              </a:rPr>
              <a:t>Unlimited wheels of fortune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400" dirty="0">
                <a:latin typeface="+mj-lt"/>
                <a:cs typeface="Arial" panose="020B0604020202020204" pitchFamily="34" charset="0"/>
              </a:rPr>
              <a:t>Unlimited labels on every wheel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400" dirty="0">
                <a:latin typeface="+mj-lt"/>
                <a:cs typeface="Arial" panose="020B0604020202020204" pitchFamily="34" charset="0"/>
              </a:rPr>
              <a:t>Customizable text and background of each label, choosing from dozens of colors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400" dirty="0">
                <a:latin typeface="+mj-lt"/>
                <a:cs typeface="Arial" panose="020B0604020202020204" pitchFamily="34" charset="0"/>
              </a:rPr>
              <a:t>Easily share your wheels and spin results with friends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386588B-833F-BDF3-4740-ACB2B20DC8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8651" y="4654488"/>
            <a:ext cx="5454930" cy="188604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542083F-2E2A-D47D-D80F-952CD2277C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10252" y="2021249"/>
            <a:ext cx="966659" cy="970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8140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757DE9-9240-79D9-7828-BE8F4F2C2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40E14-BAEB-A893-A1E4-DD4416784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Market Research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AD0E0A-F829-AA51-0623-3AC8EF9A9B09}"/>
              </a:ext>
            </a:extLst>
          </p:cNvPr>
          <p:cNvSpPr txBox="1">
            <a:spLocks noGrp="1"/>
          </p:cNvSpPr>
          <p:nvPr>
            <p:ph sz="half" idx="4294967295"/>
          </p:nvPr>
        </p:nvSpPr>
        <p:spPr>
          <a:xfrm>
            <a:off x="809625" y="2222500"/>
            <a:ext cx="5186363" cy="36385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>
              <a:buNone/>
            </a:pPr>
            <a:r>
              <a:rPr lang="en-US" sz="1400" i="0" u="sng" dirty="0" err="1">
                <a:solidFill>
                  <a:srgbClr val="202124"/>
                </a:solidFill>
                <a:effectLst/>
                <a:latin typeface="+mj-lt"/>
              </a:rPr>
              <a:t>Chwazi</a:t>
            </a:r>
            <a:r>
              <a:rPr lang="en-US" sz="1400" i="0" u="sng" dirty="0">
                <a:solidFill>
                  <a:srgbClr val="202124"/>
                </a:solidFill>
                <a:effectLst/>
                <a:latin typeface="+mj-lt"/>
              </a:rPr>
              <a:t> - Finger Chooser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cs typeface="Arial" panose="020B0604020202020204" pitchFamily="34" charset="0"/>
                <a:hlinkClick r:id="rId3"/>
              </a:rPr>
              <a:t>Link</a:t>
            </a:r>
            <a:endParaRPr 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  <a:cs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1400" dirty="0">
                <a:latin typeface="+mj-lt"/>
                <a:cs typeface="Arial" panose="020B0604020202020204" pitchFamily="34" charset="0"/>
              </a:rPr>
              <a:t>Released on Aug 2, 2013</a:t>
            </a:r>
            <a:br>
              <a:rPr lang="en-US" sz="1400" dirty="0">
                <a:latin typeface="+mj-lt"/>
                <a:cs typeface="Arial" panose="020B0604020202020204" pitchFamily="34" charset="0"/>
              </a:rPr>
            </a:br>
            <a:r>
              <a:rPr lang="en-US" sz="1400" dirty="0">
                <a:latin typeface="+mj-lt"/>
                <a:cs typeface="Arial" panose="020B0604020202020204" pitchFamily="34" charset="0"/>
              </a:rPr>
              <a:t>Last Updated on Nov 6, 2025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1400" dirty="0">
                <a:latin typeface="+mj-lt"/>
                <a:cs typeface="Arial" panose="020B0604020202020204" pitchFamily="34" charset="0"/>
              </a:rPr>
              <a:t>Downloads: 1,000,000+ downloads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1400" dirty="0">
                <a:latin typeface="+mj-lt"/>
                <a:cs typeface="Arial" panose="020B0604020202020204" pitchFamily="34" charset="0"/>
              </a:rPr>
              <a:t>Rating 4.2 – 7.73k reviews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1400" dirty="0">
                <a:latin typeface="+mj-lt"/>
                <a:cs typeface="Arial" panose="020B0604020202020204" pitchFamily="34" charset="0"/>
              </a:rPr>
              <a:t>No In-app purchases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1400" dirty="0">
                <a:latin typeface="+mj-lt"/>
                <a:cs typeface="Arial" panose="020B0604020202020204" pitchFamily="34" charset="0"/>
              </a:rPr>
              <a:t>Does not contain ads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1648B9D9-738A-148A-6AEF-751A4375A71B}"/>
              </a:ext>
            </a:extLst>
          </p:cNvPr>
          <p:cNvSpPr txBox="1">
            <a:spLocks/>
          </p:cNvSpPr>
          <p:nvPr/>
        </p:nvSpPr>
        <p:spPr>
          <a:xfrm>
            <a:off x="6382009" y="2222500"/>
            <a:ext cx="4643467" cy="48197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1400" u="sng" dirty="0">
                <a:latin typeface="+mj-lt"/>
                <a:cs typeface="Arial" panose="020B0604020202020204" pitchFamily="34" charset="0"/>
              </a:rPr>
              <a:t>Main features: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400" dirty="0">
                <a:latin typeface="+mj-lt"/>
                <a:cs typeface="Arial" panose="020B0604020202020204" pitchFamily="34" charset="0"/>
              </a:rPr>
              <a:t> Set up the number of fingers that you desire to choose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400" dirty="0">
                <a:latin typeface="+mj-lt"/>
                <a:cs typeface="Arial" panose="020B0604020202020204" pitchFamily="34" charset="0"/>
              </a:rPr>
              <a:t> Place all your fingers on the screen and wait for the winner.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CC9C0C3-9626-F881-11BF-BEC432E473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5988" y="4208636"/>
            <a:ext cx="5112013" cy="236867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B592B0A-2E1D-5FFD-C953-F1660AEA59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86117" y="1957703"/>
            <a:ext cx="1029942" cy="970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0314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9FE8C1-B889-DC9B-844F-03038AE24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CE4CE-B1A8-2B82-FF90-FFF38C8C5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Market Research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7044BB-E513-7E82-AAC7-E7ACA9EF104A}"/>
              </a:ext>
            </a:extLst>
          </p:cNvPr>
          <p:cNvSpPr txBox="1">
            <a:spLocks noGrp="1"/>
          </p:cNvSpPr>
          <p:nvPr>
            <p:ph sz="half" idx="4294967295"/>
          </p:nvPr>
        </p:nvSpPr>
        <p:spPr>
          <a:xfrm>
            <a:off x="809625" y="2222500"/>
            <a:ext cx="5186363" cy="36385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>
              <a:buNone/>
            </a:pPr>
            <a:r>
              <a:rPr lang="en-US" sz="1400" i="0" u="sng" dirty="0">
                <a:solidFill>
                  <a:srgbClr val="202124"/>
                </a:solidFill>
                <a:effectLst/>
                <a:latin typeface="+mj-lt"/>
              </a:rPr>
              <a:t>Choose - Chooser game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cs typeface="Arial" panose="020B0604020202020204" pitchFamily="34" charset="0"/>
                <a:hlinkClick r:id="rId3"/>
              </a:rPr>
              <a:t>Link</a:t>
            </a:r>
            <a:endParaRPr 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  <a:cs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1400" dirty="0">
                <a:latin typeface="+mj-lt"/>
                <a:cs typeface="Arial" panose="020B0604020202020204" pitchFamily="34" charset="0"/>
              </a:rPr>
              <a:t>Released on Jul 30, 2025</a:t>
            </a:r>
            <a:br>
              <a:rPr lang="en-US" sz="1400" dirty="0">
                <a:latin typeface="+mj-lt"/>
                <a:cs typeface="Arial" panose="020B0604020202020204" pitchFamily="34" charset="0"/>
              </a:rPr>
            </a:br>
            <a:r>
              <a:rPr lang="en-US" sz="1400" dirty="0">
                <a:latin typeface="+mj-lt"/>
                <a:cs typeface="Arial" panose="020B0604020202020204" pitchFamily="34" charset="0"/>
              </a:rPr>
              <a:t>Last Updated on Aug 3, 2025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1400" dirty="0">
                <a:latin typeface="+mj-lt"/>
                <a:cs typeface="Arial" panose="020B0604020202020204" pitchFamily="34" charset="0"/>
              </a:rPr>
              <a:t>Downloads: 1k+ downloads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1400" dirty="0">
                <a:latin typeface="+mj-lt"/>
                <a:cs typeface="Arial" panose="020B0604020202020204" pitchFamily="34" charset="0"/>
              </a:rPr>
              <a:t>No ratings or reviews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1400" dirty="0">
                <a:latin typeface="+mj-lt"/>
                <a:cs typeface="Arial" panose="020B0604020202020204" pitchFamily="34" charset="0"/>
              </a:rPr>
              <a:t>In-App Purchases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1400" dirty="0">
                <a:latin typeface="+mj-lt"/>
                <a:cs typeface="Arial" panose="020B0604020202020204" pitchFamily="34" charset="0"/>
              </a:rPr>
              <a:t>Does not contain ads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F5E40FC1-0A30-F87A-CB69-229B7049E465}"/>
              </a:ext>
            </a:extLst>
          </p:cNvPr>
          <p:cNvSpPr txBox="1">
            <a:spLocks/>
          </p:cNvSpPr>
          <p:nvPr/>
        </p:nvSpPr>
        <p:spPr>
          <a:xfrm>
            <a:off x="6306182" y="2038210"/>
            <a:ext cx="4643467" cy="48197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1400" u="sng" dirty="0">
                <a:latin typeface="+mj-lt"/>
                <a:cs typeface="Arial" panose="020B0604020202020204" pitchFamily="34" charset="0"/>
              </a:rPr>
              <a:t>Main features: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400" dirty="0">
                <a:latin typeface="+mj-lt"/>
                <a:cs typeface="Arial" panose="020B0604020202020204" pitchFamily="34" charset="0"/>
              </a:rPr>
              <a:t>Wheel spinner, Finger Chooser, Coin Flip and even more modes to help you make tiny decisions fast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400" dirty="0">
                <a:latin typeface="+mj-lt"/>
                <a:cs typeface="Arial" panose="020B0604020202020204" pitchFamily="34" charset="0"/>
              </a:rPr>
              <a:t>Choose from different themes for each mode.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400" dirty="0">
                <a:latin typeface="+mj-lt"/>
                <a:cs typeface="Arial" panose="020B0604020202020204" pitchFamily="34" charset="0"/>
              </a:rPr>
              <a:t>Customize your content with predefined lists or personal entries.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8B2C385-47B4-D6FB-9096-892B83B03C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999" y="4632395"/>
            <a:ext cx="5543835" cy="203845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636856C-34F8-7872-898E-3DC5C0819A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49649" y="2031098"/>
            <a:ext cx="1112889" cy="994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3688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81CBD-607F-56CA-D3AA-25E777454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99193-65A1-54AE-C4CE-351884041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My App - list of features</a:t>
            </a:r>
            <a:endParaRPr 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652498C6-2B27-8C59-CE3C-73416F4AB3DF}"/>
              </a:ext>
            </a:extLst>
          </p:cNvPr>
          <p:cNvSpPr txBox="1">
            <a:spLocks/>
          </p:cNvSpPr>
          <p:nvPr/>
        </p:nvSpPr>
        <p:spPr>
          <a:xfrm>
            <a:off x="307213" y="2357672"/>
            <a:ext cx="4643467" cy="48197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defTabSz="45720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80000"/>
              <a:buNone/>
            </a:pPr>
            <a:r>
              <a:rPr lang="en-US" sz="1600" u="sng" dirty="0"/>
              <a:t>Free Features</a:t>
            </a:r>
          </a:p>
          <a:p>
            <a:pPr marL="514350" indent="-285750" defTabSz="45720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Courier New" panose="02070309020205020404" pitchFamily="49" charset="0"/>
              <a:buChar char="o"/>
            </a:pPr>
            <a:r>
              <a:rPr lang="en-US" sz="1600" dirty="0"/>
              <a:t>Quick Random Selection</a:t>
            </a:r>
          </a:p>
          <a:p>
            <a:pPr marL="514350" indent="-285750" defTabSz="45720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Courier New" panose="02070309020205020404" pitchFamily="49" charset="0"/>
              <a:buChar char="o"/>
            </a:pPr>
            <a:r>
              <a:rPr lang="en-US" sz="1600" dirty="0"/>
              <a:t>Fun Winner Animation</a:t>
            </a:r>
          </a:p>
          <a:p>
            <a:pPr marL="514350" indent="-285750" defTabSz="45720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Courier New" panose="02070309020205020404" pitchFamily="49" charset="0"/>
              <a:buChar char="o"/>
            </a:pPr>
            <a:r>
              <a:rPr lang="en-US" sz="1600" dirty="0"/>
              <a:t>Ad-Supported Access</a:t>
            </a:r>
          </a:p>
          <a:p>
            <a:pPr marL="514350" indent="-285750" defTabSz="45720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Courier New" panose="02070309020205020404" pitchFamily="49" charset="0"/>
              <a:buChar char="o"/>
            </a:pPr>
            <a:r>
              <a:rPr lang="en-US" sz="1600" dirty="0"/>
              <a:t>Secure User Login</a:t>
            </a:r>
          </a:p>
          <a:p>
            <a:pPr indent="0" defTabSz="45720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80000"/>
              <a:buNone/>
            </a:pPr>
            <a:r>
              <a:rPr lang="en-US" sz="1600" u="sng" dirty="0"/>
              <a:t>Premium Features</a:t>
            </a:r>
          </a:p>
          <a:p>
            <a:pPr marL="514350" indent="-285750" defTabSz="45720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Courier New" panose="02070309020205020404" pitchFamily="49" charset="0"/>
              <a:buChar char="o"/>
            </a:pPr>
            <a:r>
              <a:rPr lang="en-US" sz="1600" dirty="0"/>
              <a:t>Cloud Group Management</a:t>
            </a:r>
          </a:p>
          <a:p>
            <a:pPr marL="514350" indent="-285750" defTabSz="45720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Courier New" panose="02070309020205020404" pitchFamily="49" charset="0"/>
              <a:buChar char="o"/>
            </a:pPr>
            <a:r>
              <a:rPr lang="en-US" sz="1600" dirty="0"/>
              <a:t>Persistent Member Lists</a:t>
            </a:r>
          </a:p>
          <a:p>
            <a:pPr marL="514350" indent="-285750" defTabSz="45720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Courier New" panose="02070309020205020404" pitchFamily="49" charset="0"/>
              <a:buChar char="o"/>
            </a:pPr>
            <a:r>
              <a:rPr lang="en-US" sz="1600" dirty="0"/>
              <a:t>Firebase Data Backup</a:t>
            </a:r>
          </a:p>
          <a:p>
            <a:pPr marL="514350" indent="-285750" defTabSz="45720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Courier New" panose="02070309020205020404" pitchFamily="49" charset="0"/>
              <a:buChar char="o"/>
            </a:pPr>
            <a:r>
              <a:rPr lang="en-US" sz="1600" dirty="0"/>
              <a:t>Ad-Free Experience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endParaRPr lang="en-US" sz="12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56191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16C449-4559-FAB6-3B07-5BE682450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0332189-D2B5-5C59-BE94-C93DED518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514" y="375313"/>
            <a:ext cx="9885182" cy="113989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700" dirty="0"/>
              <a:t>Feature comparison table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FA77ECA-7D63-C3D9-0D8A-A429F5F2E4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6895775"/>
              </p:ext>
            </p:extLst>
          </p:nvPr>
        </p:nvGraphicFramePr>
        <p:xfrm>
          <a:off x="302149" y="2445268"/>
          <a:ext cx="10710407" cy="4106607"/>
        </p:xfrm>
        <a:graphic>
          <a:graphicData uri="http://schemas.openxmlformats.org/drawingml/2006/table">
            <a:tbl>
              <a:tblPr/>
              <a:tblGrid>
                <a:gridCol w="1882880">
                  <a:extLst>
                    <a:ext uri="{9D8B030D-6E8A-4147-A177-3AD203B41FA5}">
                      <a16:colId xmlns:a16="http://schemas.microsoft.com/office/drawing/2014/main" val="1998584628"/>
                    </a:ext>
                  </a:extLst>
                </a:gridCol>
                <a:gridCol w="1858428">
                  <a:extLst>
                    <a:ext uri="{9D8B030D-6E8A-4147-A177-3AD203B41FA5}">
                      <a16:colId xmlns:a16="http://schemas.microsoft.com/office/drawing/2014/main" val="883458680"/>
                    </a:ext>
                  </a:extLst>
                </a:gridCol>
                <a:gridCol w="1821747">
                  <a:extLst>
                    <a:ext uri="{9D8B030D-6E8A-4147-A177-3AD203B41FA5}">
                      <a16:colId xmlns:a16="http://schemas.microsoft.com/office/drawing/2014/main" val="2519818298"/>
                    </a:ext>
                  </a:extLst>
                </a:gridCol>
                <a:gridCol w="1613896">
                  <a:extLst>
                    <a:ext uri="{9D8B030D-6E8A-4147-A177-3AD203B41FA5}">
                      <a16:colId xmlns:a16="http://schemas.microsoft.com/office/drawing/2014/main" val="2125193881"/>
                    </a:ext>
                  </a:extLst>
                </a:gridCol>
                <a:gridCol w="1821747">
                  <a:extLst>
                    <a:ext uri="{9D8B030D-6E8A-4147-A177-3AD203B41FA5}">
                      <a16:colId xmlns:a16="http://schemas.microsoft.com/office/drawing/2014/main" val="1283748486"/>
                    </a:ext>
                  </a:extLst>
                </a:gridCol>
                <a:gridCol w="1711709">
                  <a:extLst>
                    <a:ext uri="{9D8B030D-6E8A-4147-A177-3AD203B41FA5}">
                      <a16:colId xmlns:a16="http://schemas.microsoft.com/office/drawing/2014/main" val="4157939786"/>
                    </a:ext>
                  </a:extLst>
                </a:gridCol>
              </a:tblGrid>
              <a:tr h="910352"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en-US" sz="1400" b="1" i="0" u="none" strike="noStrike" kern="120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Feature</a:t>
                      </a:r>
                      <a:endParaRPr lang="en-US" sz="3200" b="0" i="0" u="none" strike="noStrike" dirty="0">
                        <a:effectLst/>
                        <a:latin typeface="+mj-lt"/>
                      </a:endParaRPr>
                    </a:p>
                  </a:txBody>
                  <a:tcPr marL="86868" marR="55753" marT="66929" marB="66929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en-US" sz="1400" b="1" i="0" u="none" strike="noStrike" kern="1200" spc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My App (Random Picker)</a:t>
                      </a:r>
                      <a:endParaRPr lang="en-US" sz="3200" b="0" i="0" u="none" strike="noStrike">
                        <a:effectLst/>
                        <a:latin typeface="+mj-lt"/>
                      </a:endParaRPr>
                    </a:p>
                  </a:txBody>
                  <a:tcPr marL="86868" marR="55753" marT="66929" marB="66929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en-US" sz="1400" b="1" i="0" u="none" strike="noStrike" kern="1200" spc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Choose (App)</a:t>
                      </a:r>
                      <a:endParaRPr lang="en-US" sz="3200" b="0" i="0" u="none" strike="noStrike">
                        <a:effectLst/>
                        <a:latin typeface="+mj-lt"/>
                      </a:endParaRPr>
                    </a:p>
                  </a:txBody>
                  <a:tcPr marL="86868" marR="55753" marT="66929" marB="66929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en-US" sz="1400" b="1" i="0" u="none" strike="noStrike" kern="1200" spc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Spin The Wheel</a:t>
                      </a:r>
                      <a:endParaRPr lang="en-US" sz="3200" b="0" i="0" u="none" strike="noStrike">
                        <a:effectLst/>
                        <a:latin typeface="+mj-lt"/>
                      </a:endParaRPr>
                    </a:p>
                  </a:txBody>
                  <a:tcPr marL="86868" marR="55753" marT="66929" marB="66929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en-US" sz="1400" b="1" i="0" u="none" strike="noStrike" kern="1200" spc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Chwazi</a:t>
                      </a:r>
                      <a:endParaRPr lang="en-US" sz="3200" b="0" i="0" u="none" strike="noStrike">
                        <a:effectLst/>
                        <a:latin typeface="+mj-lt"/>
                      </a:endParaRPr>
                    </a:p>
                  </a:txBody>
                  <a:tcPr marL="86868" marR="55753" marT="66929" marB="66929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en-US" sz="1400" b="1" i="0" u="none" strike="noStrike" kern="1200" spc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Pen &amp; Paper</a:t>
                      </a:r>
                      <a:endParaRPr lang="en-US" sz="3200" b="0" i="0" u="none" strike="noStrike">
                        <a:effectLst/>
                        <a:latin typeface="+mj-lt"/>
                      </a:endParaRPr>
                    </a:p>
                  </a:txBody>
                  <a:tcPr marL="86868" marR="55753" marT="66929" marB="66929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491717"/>
                  </a:ext>
                </a:extLst>
              </a:tr>
              <a:tr h="684465"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en-US" sz="1400" b="1" i="0" u="none" strike="noStrike" kern="1200" spc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Input Method</a:t>
                      </a:r>
                      <a:endParaRPr lang="en-US" sz="3200" b="0" i="0" u="none" strike="noStrike">
                        <a:effectLst/>
                        <a:latin typeface="+mj-lt"/>
                      </a:endParaRPr>
                    </a:p>
                  </a:txBody>
                  <a:tcPr marL="86868" marR="55753" marT="66929" marB="66929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en-US" sz="1400" b="0" i="0" u="none" strike="noStrike" kern="120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Text &amp; Saved Groups</a:t>
                      </a:r>
                      <a:endParaRPr lang="en-US" sz="3200" b="0" i="0" u="none" strike="noStrike" dirty="0">
                        <a:effectLst/>
                        <a:latin typeface="+mj-lt"/>
                      </a:endParaRPr>
                    </a:p>
                  </a:txBody>
                  <a:tcPr marL="86868" marR="55753" marT="66929" marB="66929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en-US" sz="1400" b="0" i="0" u="none" strike="noStrike" kern="1200" spc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Multi-Mode (Wheel, Cards)</a:t>
                      </a:r>
                      <a:endParaRPr lang="en-US" sz="3200" b="0" i="0" u="none" strike="noStrike">
                        <a:effectLst/>
                        <a:latin typeface="+mj-lt"/>
                      </a:endParaRPr>
                    </a:p>
                  </a:txBody>
                  <a:tcPr marL="86868" marR="55753" marT="66929" marB="66929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en-US" sz="1400" b="0" i="0" u="none" strike="noStrike" kern="1200" spc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Text &amp; Lists</a:t>
                      </a:r>
                      <a:endParaRPr lang="en-US" sz="3200" b="0" i="0" u="none" strike="noStrike">
                        <a:effectLst/>
                        <a:latin typeface="+mj-lt"/>
                      </a:endParaRPr>
                    </a:p>
                  </a:txBody>
                  <a:tcPr marL="86868" marR="55753" marT="66929" marB="66929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en-US" sz="1400" b="0" i="0" u="none" strike="noStrike" kern="1200" spc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Fingers Only (Physical)</a:t>
                      </a:r>
                      <a:endParaRPr lang="en-US" sz="3200" b="0" i="0" u="none" strike="noStrike">
                        <a:effectLst/>
                        <a:latin typeface="+mj-lt"/>
                      </a:endParaRPr>
                    </a:p>
                  </a:txBody>
                  <a:tcPr marL="86868" marR="55753" marT="66929" marB="66929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en-US" sz="1400" b="0" i="0" u="none" strike="noStrike" kern="1200" spc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Handwriting</a:t>
                      </a:r>
                      <a:endParaRPr lang="en-US" sz="3200" b="0" i="0" u="none" strike="noStrike">
                        <a:effectLst/>
                        <a:latin typeface="+mj-lt"/>
                      </a:endParaRPr>
                    </a:p>
                  </a:txBody>
                  <a:tcPr marL="86868" marR="55753" marT="66929" marB="66929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3183877"/>
                  </a:ext>
                </a:extLst>
              </a:tr>
              <a:tr h="684465"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en-US" sz="1400" b="1" i="0" u="none" strike="noStrike" kern="1200" spc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Remote Friendly</a:t>
                      </a:r>
                      <a:endParaRPr lang="en-US" sz="3200" b="0" i="0" u="none" strike="noStrike">
                        <a:effectLst/>
                        <a:latin typeface="+mj-lt"/>
                      </a:endParaRPr>
                    </a:p>
                  </a:txBody>
                  <a:tcPr marL="86868" marR="55753" marT="66929" marB="66929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en-US" sz="1400" b="0" i="0" u="none" strike="noStrike" kern="1200" spc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Yes (Cloud lists)</a:t>
                      </a:r>
                      <a:endParaRPr lang="en-US" sz="3200" b="0" i="0" u="none" strike="noStrike">
                        <a:effectLst/>
                        <a:latin typeface="+mj-lt"/>
                      </a:endParaRPr>
                    </a:p>
                  </a:txBody>
                  <a:tcPr marL="86868" marR="55753" marT="66929" marB="66929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en-US" sz="1400" b="0" i="0" u="none" strike="noStrike" kern="120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No (Local)</a:t>
                      </a:r>
                      <a:endParaRPr lang="en-US" sz="3200" b="0" i="0" u="none" strike="noStrike" dirty="0">
                        <a:effectLst/>
                        <a:latin typeface="+mj-lt"/>
                      </a:endParaRPr>
                    </a:p>
                  </a:txBody>
                  <a:tcPr marL="86868" marR="55753" marT="66929" marB="66929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en-US" sz="1400" b="0" i="0" u="none" strike="noStrike" kern="1200" spc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No (Local)</a:t>
                      </a:r>
                      <a:endParaRPr lang="en-US" sz="3200" b="0" i="0" u="none" strike="noStrike">
                        <a:effectLst/>
                        <a:latin typeface="+mj-lt"/>
                      </a:endParaRPr>
                    </a:p>
                  </a:txBody>
                  <a:tcPr marL="86868" marR="55753" marT="66929" marB="66929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en-US" sz="1400" b="0" i="0" u="none" strike="noStrike" kern="1200" spc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No (Must touch screen)</a:t>
                      </a:r>
                      <a:endParaRPr lang="en-US" sz="3200" b="0" i="0" u="none" strike="noStrike">
                        <a:effectLst/>
                        <a:latin typeface="+mj-lt"/>
                      </a:endParaRPr>
                    </a:p>
                  </a:txBody>
                  <a:tcPr marL="86868" marR="55753" marT="66929" marB="66929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en-US" sz="1400" b="0" i="0" u="none" strike="noStrike" kern="1200" spc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No</a:t>
                      </a:r>
                      <a:endParaRPr lang="en-US" sz="3200" b="0" i="0" u="none" strike="noStrike">
                        <a:effectLst/>
                        <a:latin typeface="+mj-lt"/>
                      </a:endParaRPr>
                    </a:p>
                  </a:txBody>
                  <a:tcPr marL="86868" marR="55753" marT="66929" marB="66929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4446770"/>
                  </a:ext>
                </a:extLst>
              </a:tr>
              <a:tr h="458395"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en-US" sz="1400" b="1" i="0" u="none" strike="noStrike" kern="1200" spc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Cloud Backup</a:t>
                      </a:r>
                      <a:endParaRPr lang="en-US" sz="3200" b="0" i="0" u="none" strike="noStrike">
                        <a:effectLst/>
                        <a:latin typeface="+mj-lt"/>
                      </a:endParaRPr>
                    </a:p>
                  </a:txBody>
                  <a:tcPr marL="86868" marR="55753" marT="66929" marB="66929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en-US" sz="1400" b="0" i="0" u="none" strike="noStrike" kern="120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Yes (Firebase)</a:t>
                      </a:r>
                      <a:endParaRPr lang="en-US" sz="3200" b="0" i="0" u="none" strike="noStrike" dirty="0">
                        <a:effectLst/>
                        <a:latin typeface="+mj-lt"/>
                      </a:endParaRPr>
                    </a:p>
                  </a:txBody>
                  <a:tcPr marL="86868" marR="55753" marT="66929" marB="66929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en-US" sz="1400" b="0" i="0" u="none" strike="noStrike" kern="1200" spc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No (Local)</a:t>
                      </a:r>
                      <a:endParaRPr lang="en-US" sz="3200" b="0" i="0" u="none" strike="noStrike">
                        <a:effectLst/>
                        <a:latin typeface="+mj-lt"/>
                      </a:endParaRPr>
                    </a:p>
                  </a:txBody>
                  <a:tcPr marL="86868" marR="55753" marT="66929" marB="66929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en-US" sz="1400" b="0" i="0" u="none" strike="noStrike" kern="120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No (Local)</a:t>
                      </a:r>
                      <a:endParaRPr lang="en-US" sz="3200" b="0" i="0" u="none" strike="noStrike" dirty="0">
                        <a:effectLst/>
                        <a:latin typeface="+mj-lt"/>
                      </a:endParaRPr>
                    </a:p>
                  </a:txBody>
                  <a:tcPr marL="86868" marR="55753" marT="66929" marB="66929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en-US" sz="1400" b="0" i="0" u="none" strike="noStrike" kern="1200" spc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No</a:t>
                      </a:r>
                      <a:endParaRPr lang="en-US" sz="3200" b="0" i="0" u="none" strike="noStrike">
                        <a:effectLst/>
                        <a:latin typeface="+mj-lt"/>
                      </a:endParaRPr>
                    </a:p>
                  </a:txBody>
                  <a:tcPr marL="86868" marR="55753" marT="66929" marB="66929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en-US" sz="1400" b="0" i="0" u="none" strike="noStrike" kern="1200" spc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No</a:t>
                      </a:r>
                      <a:endParaRPr lang="en-US" sz="3200" b="0" i="0" u="none" strike="noStrike">
                        <a:effectLst/>
                        <a:latin typeface="+mj-lt"/>
                      </a:endParaRPr>
                    </a:p>
                  </a:txBody>
                  <a:tcPr marL="86868" marR="55753" marT="66929" marB="66929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2268495"/>
                  </a:ext>
                </a:extLst>
              </a:tr>
              <a:tr h="684465"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en-US" sz="1400" b="1" i="0" u="none" strike="noStrike" kern="1200" spc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Free Version</a:t>
                      </a:r>
                      <a:endParaRPr lang="en-US" sz="3200" b="0" i="0" u="none" strike="noStrike">
                        <a:effectLst/>
                        <a:latin typeface="+mj-lt"/>
                      </a:endParaRPr>
                    </a:p>
                  </a:txBody>
                  <a:tcPr marL="86868" marR="55753" marT="66929" marB="66929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en-US" sz="1400" b="0" i="0" u="none" strike="noStrike" kern="1200" spc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 Saved Group + Ads</a:t>
                      </a:r>
                      <a:endParaRPr lang="en-US" sz="3200" b="0" i="0" u="none" strike="noStrike">
                        <a:effectLst/>
                        <a:latin typeface="+mj-lt"/>
                      </a:endParaRPr>
                    </a:p>
                  </a:txBody>
                  <a:tcPr marL="86868" marR="55753" marT="66929" marB="66929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en-US" sz="1400" b="0" i="0" u="none" strike="noStrike" kern="1200" spc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Locked Features + Ads</a:t>
                      </a:r>
                      <a:endParaRPr lang="en-US" sz="3200" b="0" i="0" u="none" strike="noStrike">
                        <a:effectLst/>
                        <a:latin typeface="+mj-lt"/>
                      </a:endParaRPr>
                    </a:p>
                  </a:txBody>
                  <a:tcPr marL="86868" marR="55753" marT="66929" marB="66929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en-US" sz="1400" b="0" i="0" u="none" strike="noStrike" kern="1200" spc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Unlimited + Ads</a:t>
                      </a:r>
                      <a:endParaRPr lang="en-US" sz="3200" b="0" i="0" u="none" strike="noStrike">
                        <a:effectLst/>
                        <a:latin typeface="+mj-lt"/>
                      </a:endParaRPr>
                    </a:p>
                  </a:txBody>
                  <a:tcPr marL="86868" marR="55753" marT="66929" marB="66929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en-US" sz="1400" b="0" i="0" u="none" strike="noStrike" kern="120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Unlimited + Ads</a:t>
                      </a:r>
                      <a:endParaRPr lang="en-US" sz="3200" b="0" i="0" u="none" strike="noStrike" dirty="0">
                        <a:effectLst/>
                        <a:latin typeface="+mj-lt"/>
                      </a:endParaRPr>
                    </a:p>
                  </a:txBody>
                  <a:tcPr marL="86868" marR="55753" marT="66929" marB="66929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en-US" sz="1400" b="0" i="0" u="none" strike="noStrike" kern="120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Unlimited</a:t>
                      </a:r>
                      <a:endParaRPr lang="en-US" sz="3200" b="0" i="0" u="none" strike="noStrike" dirty="0">
                        <a:effectLst/>
                        <a:latin typeface="+mj-lt"/>
                      </a:endParaRPr>
                    </a:p>
                  </a:txBody>
                  <a:tcPr marL="86868" marR="55753" marT="66929" marB="66929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3348166"/>
                  </a:ext>
                </a:extLst>
              </a:tr>
              <a:tr h="684465"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en-US" sz="1400" b="1" i="0" u="none" strike="noStrike" kern="1200" spc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Ad-Free Option</a:t>
                      </a:r>
                      <a:endParaRPr lang="en-US" sz="3200" b="0" i="0" u="none" strike="noStrike">
                        <a:effectLst/>
                        <a:latin typeface="+mj-lt"/>
                      </a:endParaRPr>
                    </a:p>
                  </a:txBody>
                  <a:tcPr marL="86868" marR="55753" marT="66929" marB="66929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en-US" sz="1400" b="0" i="0" u="none" strike="noStrike" kern="120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Subscription</a:t>
                      </a:r>
                      <a:endParaRPr lang="en-US" sz="3200" b="0" i="0" u="none" strike="noStrike" dirty="0">
                        <a:effectLst/>
                        <a:latin typeface="+mj-lt"/>
                      </a:endParaRPr>
                    </a:p>
                  </a:txBody>
                  <a:tcPr marL="86868" marR="55753" marT="66929" marB="66929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en-US" sz="1400" b="0" i="0" u="none" strike="noStrike" kern="1200" spc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Subscription</a:t>
                      </a:r>
                      <a:endParaRPr lang="en-US" sz="3200" b="0" i="0" u="none" strike="noStrike">
                        <a:effectLst/>
                        <a:latin typeface="+mj-lt"/>
                      </a:endParaRPr>
                    </a:p>
                  </a:txBody>
                  <a:tcPr marL="86868" marR="55753" marT="66929" marB="66929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en-US" sz="1400" b="0" i="0" u="none" strike="noStrike" kern="120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One-time</a:t>
                      </a:r>
                      <a:endParaRPr lang="en-US" sz="3200" b="0" i="0" u="none" strike="noStrike" dirty="0">
                        <a:effectLst/>
                        <a:latin typeface="+mj-lt"/>
                      </a:endParaRPr>
                    </a:p>
                  </a:txBody>
                  <a:tcPr marL="86868" marR="55753" marT="66929" marB="66929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en-US" sz="1400" b="0" i="0" u="none" strike="noStrike" kern="120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One-time</a:t>
                      </a:r>
                      <a:endParaRPr lang="en-US" sz="3200" b="0" i="0" u="none" strike="noStrike" dirty="0">
                        <a:effectLst/>
                        <a:latin typeface="+mj-lt"/>
                      </a:endParaRPr>
                    </a:p>
                  </a:txBody>
                  <a:tcPr marL="86868" marR="55753" marT="66929" marB="66929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en-US" sz="1400" b="0" i="0" u="none" strike="noStrike" kern="120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Always Free</a:t>
                      </a:r>
                      <a:endParaRPr lang="en-US" sz="3200" b="0" i="0" u="none" strike="noStrike" dirty="0">
                        <a:effectLst/>
                        <a:latin typeface="+mj-lt"/>
                      </a:endParaRPr>
                    </a:p>
                  </a:txBody>
                  <a:tcPr marL="86868" marR="55753" marT="66929" marB="66929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3824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9899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BB80E-6147-B186-1EF7-A10C3A6D9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753" y="391285"/>
            <a:ext cx="10571998" cy="970450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SWOT Analysis</a:t>
            </a:r>
            <a:endParaRPr lang="en-IL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15213A1-7527-C713-9D9F-5E16352A35E8}"/>
              </a:ext>
            </a:extLst>
          </p:cNvPr>
          <p:cNvSpPr/>
          <p:nvPr/>
        </p:nvSpPr>
        <p:spPr>
          <a:xfrm>
            <a:off x="143118" y="2210460"/>
            <a:ext cx="2610363" cy="4476584"/>
          </a:xfrm>
          <a:prstGeom prst="round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B005138-54C6-332F-6FEB-CFD0C597690C}"/>
              </a:ext>
            </a:extLst>
          </p:cNvPr>
          <p:cNvSpPr txBox="1"/>
          <p:nvPr/>
        </p:nvSpPr>
        <p:spPr>
          <a:xfrm>
            <a:off x="291859" y="2226363"/>
            <a:ext cx="2300262" cy="47859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u="sng" dirty="0"/>
              <a:t>Strengths</a:t>
            </a:r>
          </a:p>
          <a:p>
            <a:r>
              <a:rPr lang="en-US" sz="1200" b="1" u="sng" dirty="0"/>
              <a:t> </a:t>
            </a:r>
          </a:p>
          <a:p>
            <a:pPr marL="285750" indent="-285750">
              <a:buClr>
                <a:srgbClr val="6D0000"/>
              </a:buClr>
              <a:buFont typeface="Courier New" panose="02070309020205020404" pitchFamily="49" charset="0"/>
              <a:buChar char="o"/>
            </a:pPr>
            <a:r>
              <a:rPr lang="en-US" sz="1200" b="1" dirty="0"/>
              <a:t>Cloud Persistence:</a:t>
            </a:r>
            <a:r>
              <a:rPr lang="en-US" sz="1200" dirty="0"/>
              <a:t> Unlike many competitors, groups are saved to the cloud (Firebase) and accessible from any device.</a:t>
            </a:r>
          </a:p>
          <a:p>
            <a:pPr marL="285750" indent="-285750">
              <a:buClr>
                <a:srgbClr val="6D0000"/>
              </a:buClr>
              <a:buFont typeface="Courier New" panose="02070309020205020404" pitchFamily="49" charset="0"/>
              <a:buChar char="o"/>
            </a:pPr>
            <a:r>
              <a:rPr lang="en-US" sz="1200" b="1" dirty="0"/>
              <a:t>User Trust:</a:t>
            </a:r>
            <a:r>
              <a:rPr lang="en-US" sz="1200" dirty="0"/>
              <a:t> The app uses a secure Google/Email login (Firebase Auth), ensuring only the user can access their private lists.</a:t>
            </a:r>
          </a:p>
          <a:p>
            <a:pPr marL="285750" indent="-285750">
              <a:buClr>
                <a:srgbClr val="6D0000"/>
              </a:buClr>
              <a:buFont typeface="Courier New" panose="02070309020205020404" pitchFamily="49" charset="0"/>
              <a:buChar char="o"/>
            </a:pPr>
            <a:r>
              <a:rPr lang="en-US" sz="1200" b="1" dirty="0"/>
              <a:t>Fairness:</a:t>
            </a:r>
            <a:r>
              <a:rPr lang="en-US" sz="1200" dirty="0"/>
              <a:t> The algorithm ensures purely random, unbiased selection, solving the problem of "indecision“.</a:t>
            </a:r>
          </a:p>
          <a:p>
            <a:pPr marL="285750" indent="-285750">
              <a:buClr>
                <a:srgbClr val="6D0000"/>
              </a:buClr>
              <a:buFont typeface="Courier New" panose="02070309020205020404" pitchFamily="49" charset="0"/>
              <a:buChar char="o"/>
            </a:pPr>
            <a:r>
              <a:rPr lang="en-US" sz="1200" b="1" dirty="0"/>
              <a:t>Simplicity:</a:t>
            </a:r>
            <a:r>
              <a:rPr lang="en-US" sz="1200" dirty="0"/>
              <a:t> The interface is focused purely on utility without clutter or confusing modes.</a:t>
            </a:r>
          </a:p>
          <a:p>
            <a:endParaRPr lang="en-IL" sz="1100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D40B300F-B87B-D6B9-809B-EB45ADE37D4D}"/>
              </a:ext>
            </a:extLst>
          </p:cNvPr>
          <p:cNvSpPr/>
          <p:nvPr/>
        </p:nvSpPr>
        <p:spPr>
          <a:xfrm>
            <a:off x="3066234" y="2226363"/>
            <a:ext cx="2759103" cy="4476584"/>
          </a:xfrm>
          <a:prstGeom prst="round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1AC1B7D-7A9D-1F82-1548-D9FEEE973C50}"/>
              </a:ext>
            </a:extLst>
          </p:cNvPr>
          <p:cNvSpPr txBox="1"/>
          <p:nvPr/>
        </p:nvSpPr>
        <p:spPr>
          <a:xfrm>
            <a:off x="3214974" y="2226363"/>
            <a:ext cx="2610363" cy="3262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u="sng" dirty="0"/>
              <a:t> Weaknesses</a:t>
            </a:r>
          </a:p>
          <a:p>
            <a:endParaRPr lang="en-US" sz="1200" dirty="0"/>
          </a:p>
          <a:p>
            <a:pPr marL="171450" indent="-171450">
              <a:buClr>
                <a:srgbClr val="6D0000"/>
              </a:buClr>
              <a:buFont typeface="Courier New" panose="02070309020205020404" pitchFamily="49" charset="0"/>
              <a:buChar char="o"/>
            </a:pPr>
            <a:r>
              <a:rPr lang="en-US" sz="1200" b="1" dirty="0"/>
              <a:t>Internet Dependency: </a:t>
            </a:r>
            <a:r>
              <a:rPr lang="en-US" sz="1200" dirty="0"/>
              <a:t>Because it relies on Firebase for saving/loading groups, the premium features require an active internet connection.</a:t>
            </a:r>
          </a:p>
          <a:p>
            <a:pPr marL="171450" indent="-171450">
              <a:buClr>
                <a:srgbClr val="6D0000"/>
              </a:buClr>
              <a:buFont typeface="Courier New" panose="02070309020205020404" pitchFamily="49" charset="0"/>
              <a:buChar char="o"/>
            </a:pPr>
            <a:r>
              <a:rPr lang="en-US" sz="1200" b="1" dirty="0"/>
              <a:t>Feature Variety: </a:t>
            </a:r>
            <a:r>
              <a:rPr lang="en-US" sz="1200" dirty="0"/>
              <a:t>The app currently offers only list-based raffles, whereas competitors like "Choose" offer dice, coins, and wheels.</a:t>
            </a:r>
          </a:p>
          <a:p>
            <a:pPr marL="171450" indent="-171450">
              <a:buClr>
                <a:srgbClr val="6D0000"/>
              </a:buClr>
              <a:buFont typeface="Courier New" panose="02070309020205020404" pitchFamily="49" charset="0"/>
              <a:buChar char="o"/>
            </a:pPr>
            <a:r>
              <a:rPr lang="en-US" sz="1200" b="1" dirty="0"/>
              <a:t>Subscription Barrier: </a:t>
            </a:r>
            <a:r>
              <a:rPr lang="en-US" sz="1200" dirty="0"/>
              <a:t>Users must pay to save more than one group, which might turn away casual users who want everything for free</a:t>
            </a:r>
            <a:r>
              <a:rPr lang="en-US" sz="1400" dirty="0"/>
              <a:t>.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269FFF9E-CD1C-1FCB-12DF-FC19D88DEC71}"/>
              </a:ext>
            </a:extLst>
          </p:cNvPr>
          <p:cNvSpPr/>
          <p:nvPr/>
        </p:nvSpPr>
        <p:spPr>
          <a:xfrm>
            <a:off x="6180817" y="2210460"/>
            <a:ext cx="2759103" cy="4476584"/>
          </a:xfrm>
          <a:prstGeom prst="round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B0A68E5-870D-7A4C-F8C8-888FBA1391CE}"/>
              </a:ext>
            </a:extLst>
          </p:cNvPr>
          <p:cNvSpPr txBox="1"/>
          <p:nvPr/>
        </p:nvSpPr>
        <p:spPr>
          <a:xfrm>
            <a:off x="6329557" y="2226363"/>
            <a:ext cx="261036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u="sng" dirty="0"/>
              <a:t>Opportunities</a:t>
            </a:r>
          </a:p>
          <a:p>
            <a:endParaRPr lang="en-US" sz="1200" b="1" u="sng" dirty="0"/>
          </a:p>
          <a:p>
            <a:pPr marL="171450" indent="-171450">
              <a:buClr>
                <a:srgbClr val="6D0000"/>
              </a:buClr>
              <a:buFont typeface="Courier New" panose="02070309020205020404" pitchFamily="49" charset="0"/>
              <a:buChar char="o"/>
            </a:pPr>
            <a:r>
              <a:rPr lang="en-US" sz="1200" b="1" dirty="0"/>
              <a:t>Remote Teams &amp; Classrooms: </a:t>
            </a:r>
            <a:r>
              <a:rPr lang="en-US" sz="1200" dirty="0"/>
              <a:t>There is a growing need for tools that work across devices for teachers and remote managers.</a:t>
            </a:r>
          </a:p>
          <a:p>
            <a:pPr marL="171450" indent="-171450">
              <a:buClr>
                <a:srgbClr val="6D0000"/>
              </a:buClr>
              <a:buFont typeface="Courier New" panose="02070309020205020404" pitchFamily="49" charset="0"/>
              <a:buChar char="o"/>
            </a:pPr>
            <a:r>
              <a:rPr lang="en-US" sz="1200" b="1" dirty="0"/>
              <a:t>Feature Expansion: </a:t>
            </a:r>
            <a:r>
              <a:rPr lang="en-US" sz="1200" dirty="0"/>
              <a:t>You can easily add new modes (coin flip, dice) in future updates to match competitor features.</a:t>
            </a:r>
          </a:p>
          <a:p>
            <a:pPr marL="171450" indent="-171450">
              <a:buClr>
                <a:srgbClr val="6D0000"/>
              </a:buClr>
              <a:buFont typeface="Courier New" panose="02070309020205020404" pitchFamily="49" charset="0"/>
              <a:buChar char="o"/>
            </a:pPr>
            <a:r>
              <a:rPr lang="en-US" sz="1200" b="1" dirty="0"/>
              <a:t>B2B Licensing: </a:t>
            </a:r>
            <a:r>
              <a:rPr lang="en-US" sz="1200" dirty="0"/>
              <a:t>Schools or companies might pay for a bulk license to ensure their data is secure and ad-free.</a:t>
            </a:r>
            <a:endParaRPr lang="en-IL" sz="1100" dirty="0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EDCAFD82-394E-1278-FB12-BE6ADE0ACEC8}"/>
              </a:ext>
            </a:extLst>
          </p:cNvPr>
          <p:cNvSpPr/>
          <p:nvPr/>
        </p:nvSpPr>
        <p:spPr>
          <a:xfrm>
            <a:off x="9289779" y="2210460"/>
            <a:ext cx="2759103" cy="4476584"/>
          </a:xfrm>
          <a:prstGeom prst="round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52E1C5B-D294-D226-79FD-A66FD9E86A16}"/>
              </a:ext>
            </a:extLst>
          </p:cNvPr>
          <p:cNvSpPr txBox="1"/>
          <p:nvPr/>
        </p:nvSpPr>
        <p:spPr>
          <a:xfrm>
            <a:off x="9438519" y="2226363"/>
            <a:ext cx="2610363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200" b="1" u="sng" dirty="0"/>
              <a:t>Threats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endParaRPr lang="en-US" sz="1200" dirty="0"/>
          </a:p>
          <a:p>
            <a:pPr marL="171450" indent="-171450">
              <a:buClr>
                <a:srgbClr val="6D0000"/>
              </a:buClr>
              <a:buFont typeface="Courier New" panose="02070309020205020404" pitchFamily="49" charset="0"/>
              <a:buChar char="o"/>
            </a:pPr>
            <a:r>
              <a:rPr lang="en-US" sz="1200" b="1" dirty="0"/>
              <a:t>Crowded Market: </a:t>
            </a:r>
            <a:r>
              <a:rPr lang="en-US" sz="1200" dirty="0"/>
              <a:t>There are thousands of free "random picker" apps on the store, making discoverability difficult. No-Login </a:t>
            </a:r>
          </a:p>
          <a:p>
            <a:pPr marL="171450" indent="-171450">
              <a:buClr>
                <a:srgbClr val="6D0000"/>
              </a:buClr>
              <a:buFont typeface="Courier New" panose="02070309020205020404" pitchFamily="49" charset="0"/>
              <a:buChar char="o"/>
            </a:pPr>
            <a:r>
              <a:rPr lang="en-US" sz="1200" b="1" dirty="0"/>
              <a:t>Competitors: </a:t>
            </a:r>
            <a:r>
              <a:rPr lang="en-US" sz="1200" dirty="0"/>
              <a:t>Users might prefer apps that don't require a login, even if they are less secure.</a:t>
            </a:r>
          </a:p>
          <a:p>
            <a:pPr marL="171450" indent="-171450">
              <a:buClr>
                <a:srgbClr val="6D0000"/>
              </a:buClr>
              <a:buFont typeface="Courier New" panose="02070309020205020404" pitchFamily="49" charset="0"/>
              <a:buChar char="o"/>
            </a:pPr>
            <a:r>
              <a:rPr lang="en-US" sz="1200" b="1" dirty="0"/>
              <a:t>Data Privacy Concerns: </a:t>
            </a:r>
            <a:r>
              <a:rPr lang="en-US" sz="1200" dirty="0"/>
              <a:t>Users are becoming more hesitant to share personal data (email) with simple utility apps</a:t>
            </a:r>
            <a:r>
              <a:rPr lang="en-US" sz="1400" dirty="0"/>
              <a:t>.</a:t>
            </a:r>
            <a:endParaRPr lang="en-IL" sz="1200" dirty="0"/>
          </a:p>
        </p:txBody>
      </p:sp>
    </p:spTree>
    <p:extLst>
      <p:ext uri="{BB962C8B-B14F-4D97-AF65-F5344CB8AC3E}">
        <p14:creationId xmlns:p14="http://schemas.microsoft.com/office/powerpoint/2010/main" val="39678283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A4BFC-10F5-335C-E2B0-45EBAC48E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 App Purchases</a:t>
            </a:r>
            <a:endParaRPr lang="en-IL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4B2D4E-C1C4-18AB-E004-DA4688BB39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18929" y="2222287"/>
            <a:ext cx="10214113" cy="4188525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u="sng" dirty="0"/>
              <a:t>One-time purchase: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/>
              <a:t>Ads appear in the free version - by paying a one-time payment of 10$ the ads will disappear.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u="sng" dirty="0"/>
              <a:t>Subscription: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/>
              <a:t>In the free version there is a limit of 1 saved group - subscribers have no limit.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/>
              <a:t>No more ads.</a:t>
            </a:r>
          </a:p>
          <a:p>
            <a:pPr marL="0" indent="0">
              <a:lnSpc>
                <a:spcPct val="100000"/>
              </a:lnSpc>
              <a:buNone/>
            </a:pPr>
            <a:endParaRPr lang="he-IL" dirty="0">
              <a:latin typeface="Arial" panose="020B0604020202020204" pitchFamily="34" charset="0"/>
            </a:endParaRPr>
          </a:p>
          <a:p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6931870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6673F-62D9-8EF9-2868-4CD0AA3C8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C0DCE-CCA3-9768-3539-F61E5C4DF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Beta / Soft Launch</a:t>
            </a:r>
            <a:endParaRPr lang="en-IL" dirty="0"/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9EBCE527-84CF-ACB4-3517-062B019A2C9B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166021" y="2652194"/>
            <a:ext cx="11215977" cy="35702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IL" altLang="en-IL" sz="140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Target Beta Group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6D0000"/>
              </a:buClr>
              <a:buSzTx/>
            </a:pPr>
            <a:r>
              <a:rPr kumimoji="0" lang="en-IL" altLang="en-IL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Who: 10 Friends &amp; Family Members.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6D0000"/>
              </a:buClr>
              <a:buSzTx/>
            </a:pPr>
            <a:r>
              <a:rPr kumimoji="0" lang="en-IL" altLang="en-IL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Why: They are easy to recruit, forgiving of bugs, and can give honest feedback in a relaxed setting.</a:t>
            </a:r>
            <a:endParaRPr kumimoji="0" lang="en-US" altLang="en-IL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IL" altLang="en-IL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IL" altLang="en-IL" sz="140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The "Pizza Night" Test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6D0000"/>
              </a:buClr>
              <a:buSzTx/>
            </a:pPr>
            <a:r>
              <a:rPr kumimoji="0" lang="en-IL" altLang="en-IL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Scenario: We will host a game night or dinner where we </a:t>
            </a:r>
            <a:r>
              <a:rPr kumimoji="0" lang="en-IL" altLang="en-IL" sz="14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must</a:t>
            </a:r>
            <a:r>
              <a:rPr kumimoji="0" lang="en-IL" altLang="en-IL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use the app to make every decision (e.g., "Who pays for pizza?", "Which movie to watch?", "Who goes first in the game?").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6D0000"/>
              </a:buClr>
              <a:buSzTx/>
            </a:pPr>
            <a:r>
              <a:rPr kumimoji="0" lang="en-IL" altLang="en-IL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Goal: To see if the app is actually fun to use in a social setting and if the animation builds excitement.</a:t>
            </a:r>
            <a:endParaRPr kumimoji="0" lang="en-US" altLang="en-IL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IL" altLang="en-IL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IL" altLang="en-IL" sz="140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What We Will Test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6D0000"/>
              </a:buClr>
              <a:buSzTx/>
            </a:pPr>
            <a:r>
              <a:rPr kumimoji="0" lang="en-IL" altLang="en-IL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Usability: Can my parents/friends add names and run a raffle without asking for help?.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6D0000"/>
              </a:buClr>
              <a:buSzTx/>
            </a:pPr>
            <a:r>
              <a:rPr kumimoji="0" lang="en-IL" altLang="en-IL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Stability: Does the app crash when we pass the phone around?.</a:t>
            </a:r>
            <a:endParaRPr kumimoji="0" lang="en-US" altLang="en-IL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IL" altLang="en-IL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IL" altLang="en-IL" sz="140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Feedback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6D0000"/>
              </a:buClr>
              <a:buSzTx/>
            </a:pPr>
            <a:r>
              <a:rPr kumimoji="0" lang="en-IL" altLang="en-IL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Method: Casual conversation. I will ask, "Was that confusing?" or "Did the animation feel too long?" right in the moment.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IL" altLang="en-IL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9185095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DA678-EF15-5F97-6328-3FD86A1AF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196" y="644073"/>
            <a:ext cx="10793601" cy="705751"/>
          </a:xfrm>
        </p:spPr>
        <p:txBody>
          <a:bodyPr/>
          <a:lstStyle/>
          <a:p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Permissions</a:t>
            </a:r>
            <a:r>
              <a:rPr lang="en-US" b="1" dirty="0"/>
              <a:t> </a:t>
            </a:r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Required</a:t>
            </a:r>
            <a:br>
              <a:rPr lang="en-US" dirty="0"/>
            </a:br>
            <a:endParaRPr lang="en-IL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B74E05-5BC0-27D9-E3E0-D6F10FA2037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1400" dirty="0"/>
              <a:t>None!</a:t>
            </a:r>
          </a:p>
          <a:p>
            <a:r>
              <a:rPr lang="en-US" sz="1400" dirty="0"/>
              <a:t>My app respects user privacy and does not ask for Camera, Location, Microphone, or Storage access.</a:t>
            </a:r>
          </a:p>
          <a:p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0567658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BCF20-A4F9-82A3-D68A-3215971A1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UX - Wireframes</a:t>
            </a:r>
            <a:endParaRPr lang="en-IL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1E3607E-13DF-F9D4-0F36-8C58CDAB8D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1200" y="1936376"/>
            <a:ext cx="6601323" cy="4798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7218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B83FF-8AB8-EA4B-D6C8-0162ED70D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 anchor="ctr">
            <a:normAutofit/>
          </a:bodyPr>
          <a:lstStyle/>
          <a:p>
            <a:r>
              <a:rPr lang="en-US" dirty="0"/>
              <a:t>UI - Mockup</a:t>
            </a:r>
            <a:endParaRPr lang="en-IL" dirty="0"/>
          </a:p>
        </p:txBody>
      </p:sp>
      <p:pic>
        <p:nvPicPr>
          <p:cNvPr id="6" name="Picture 5" descr="Screens screenshot of a screenshot of a screenshot&#10;&#10;AI-generated content may be incorrect.">
            <a:extLst>
              <a:ext uri="{FF2B5EF4-FFF2-40B4-BE49-F238E27FC236}">
                <a16:creationId xmlns:a16="http://schemas.microsoft.com/office/drawing/2014/main" id="{AD8E2A11-1632-51A6-680A-D5380007BC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9889" y="2533572"/>
            <a:ext cx="7944875" cy="397243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4644491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0D8C6-C677-6F5B-8B18-17423BA8B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 vert="horz" lIns="91440" tIns="45720" rIns="91440" bIns="45720" rtlCol="0" anchor="ctr" anchorCtr="0">
            <a:normAutofit/>
          </a:bodyPr>
          <a:lstStyle/>
          <a:p>
            <a:r>
              <a:rPr lang="en-US" b="0" kern="1200">
                <a:latin typeface="+mj-lt"/>
                <a:ea typeface="+mj-ea"/>
                <a:cs typeface="+mj-cs"/>
              </a:rPr>
              <a:t>Server</a:t>
            </a:r>
          </a:p>
        </p:txBody>
      </p:sp>
      <p:pic>
        <p:nvPicPr>
          <p:cNvPr id="5" name="Picture 2" descr="Google Cloud and Firebase logos">
            <a:extLst>
              <a:ext uri="{FF2B5EF4-FFF2-40B4-BE49-F238E27FC236}">
                <a16:creationId xmlns:a16="http://schemas.microsoft.com/office/drawing/2014/main" id="{2A11C0B7-86A2-DECE-8173-E2505B33A2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225643" y="2222287"/>
            <a:ext cx="2384955" cy="104580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ontent Placeholder 6">
            <a:extLst>
              <a:ext uri="{FF2B5EF4-FFF2-40B4-BE49-F238E27FC236}">
                <a16:creationId xmlns:a16="http://schemas.microsoft.com/office/drawing/2014/main" id="{818750EB-C27B-4589-73AC-B8B0D92EF401}"/>
              </a:ext>
            </a:extLst>
          </p:cNvPr>
          <p:cNvSpPr txBox="1">
            <a:spLocks/>
          </p:cNvSpPr>
          <p:nvPr/>
        </p:nvSpPr>
        <p:spPr>
          <a:xfrm>
            <a:off x="838200" y="2222287"/>
            <a:ext cx="5181600" cy="3638764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u="sng"/>
              <a:t>use that will be made on the server:</a:t>
            </a:r>
          </a:p>
          <a:p>
            <a:r>
              <a:rPr lang="en-US"/>
              <a:t>Backup files for subscribed users in firebase Real-time Database.</a:t>
            </a:r>
          </a:p>
          <a:p>
            <a:r>
              <a:rPr lang="en-US" u="sng"/>
              <a:t>Expected costs in the future:</a:t>
            </a:r>
          </a:p>
          <a:p>
            <a:r>
              <a:rPr lang="en-US"/>
              <a:t>Because the data that comes up as a backup is very small, and because it is only available to subscribers, high costs are not expected - if there are any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9047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E1847-B3FA-1081-2BF2-1472CD02B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Advertisements</a:t>
            </a:r>
            <a:endParaRPr lang="en-IL" dirty="0"/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896DBD8C-6EF8-6D4A-7B7D-93EBB0EBEEE0}"/>
              </a:ext>
            </a:extLst>
          </p:cNvPr>
          <p:cNvSpPr txBox="1">
            <a:spLocks/>
          </p:cNvSpPr>
          <p:nvPr/>
        </p:nvSpPr>
        <p:spPr>
          <a:xfrm>
            <a:off x="540142" y="2549817"/>
            <a:ext cx="5167759" cy="879183"/>
          </a:xfrm>
          <a:prstGeom prst="rect">
            <a:avLst/>
          </a:prstGeom>
        </p:spPr>
        <p:txBody>
          <a:bodyPr vert="horz" lIns="0" tIns="0" rIns="0" bIns="0" rtlCol="0">
            <a:normAutofit fontScale="70000" lnSpcReduction="20000"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buFont typeface="Arial" panose="020B0604020202020204" pitchFamily="34" charset="0"/>
              <a:buNone/>
              <a:defRPr sz="16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30000"/>
              </a:lnSpc>
              <a:spcBef>
                <a:spcPct val="30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30000"/>
              </a:lnSpc>
              <a:spcBef>
                <a:spcPct val="30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1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30000"/>
              </a:lnSpc>
              <a:spcBef>
                <a:spcPct val="30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1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Full-screen ads that cover the interface of an app until closed by the user</a:t>
            </a:r>
          </a:p>
          <a:p>
            <a:br>
              <a:rPr lang="en-US"/>
            </a:b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AE513DB-9D7E-3121-BB61-45D21BE412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142" y="3085423"/>
            <a:ext cx="5250651" cy="2951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3852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0F52C-21DC-8E0F-5070-42E337816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Security</a:t>
            </a:r>
            <a:endParaRPr lang="en-IL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80FFD0-2C4C-87EC-5539-487076B11B3B}"/>
              </a:ext>
            </a:extLst>
          </p:cNvPr>
          <p:cNvSpPr txBox="1"/>
          <p:nvPr/>
        </p:nvSpPr>
        <p:spPr>
          <a:xfrm>
            <a:off x="580572" y="2717493"/>
            <a:ext cx="748574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u="sng" dirty="0"/>
              <a:t>What permissions does the app require?</a:t>
            </a:r>
          </a:p>
          <a:p>
            <a:pPr>
              <a:buNone/>
            </a:pPr>
            <a:endParaRPr lang="en-US" u="sng" dirty="0"/>
          </a:p>
          <a:p>
            <a:pPr marL="285750" indent="-285750">
              <a:buClr>
                <a:srgbClr val="6D0000"/>
              </a:buClr>
              <a:buFont typeface="Courier New" panose="02070309020205020404" pitchFamily="49" charset="0"/>
              <a:buChar char="o"/>
            </a:pPr>
            <a:r>
              <a:rPr lang="en-US" dirty="0"/>
              <a:t>Internet Access: This is the only permission used. It is required to sync groups with the Firebase Database and to load advertisements via AdMob.</a:t>
            </a:r>
          </a:p>
          <a:p>
            <a:pPr marL="285750" indent="-285750">
              <a:buClr>
                <a:srgbClr val="6D0000"/>
              </a:buClr>
              <a:buFont typeface="Courier New" panose="02070309020205020404" pitchFamily="49" charset="0"/>
              <a:buChar char="o"/>
            </a:pPr>
            <a:endParaRPr lang="en-US" dirty="0"/>
          </a:p>
          <a:p>
            <a:pPr marL="285750" indent="-285750">
              <a:buClr>
                <a:srgbClr val="6D0000"/>
              </a:buClr>
              <a:buFont typeface="Courier New" panose="02070309020205020404" pitchFamily="49" charset="0"/>
              <a:buChar char="o"/>
            </a:pPr>
            <a:r>
              <a:rPr lang="en-US" dirty="0"/>
              <a:t>No Dangerous Permissions: The app intentionally avoids accessing private data. We do not use the Camera, Location, Contacts, or Microphone.</a:t>
            </a:r>
          </a:p>
        </p:txBody>
      </p:sp>
    </p:spTree>
    <p:extLst>
      <p:ext uri="{BB962C8B-B14F-4D97-AF65-F5344CB8AC3E}">
        <p14:creationId xmlns:p14="http://schemas.microsoft.com/office/powerpoint/2010/main" val="45172389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Default">
      <a:dk1>
        <a:srgbClr val="000000"/>
      </a:dk1>
      <a:lt1>
        <a:sysClr val="window" lastClr="FFFFFF"/>
      </a:lt1>
      <a:dk2>
        <a:srgbClr val="3F3F3F"/>
      </a:dk2>
      <a:lt2>
        <a:srgbClr val="E7E6E6"/>
      </a:lt2>
      <a:accent1>
        <a:srgbClr val="700000"/>
      </a:accent1>
      <a:accent2>
        <a:srgbClr val="ED7D31"/>
      </a:accent2>
      <a:accent3>
        <a:srgbClr val="A5A5A5"/>
      </a:accent3>
      <a:accent4>
        <a:srgbClr val="FFC000"/>
      </a:accent4>
      <a:accent5>
        <a:srgbClr val="700000"/>
      </a:accent5>
      <a:accent6>
        <a:srgbClr val="978869"/>
      </a:accent6>
      <a:hlink>
        <a:srgbClr val="FFC000"/>
      </a:hlink>
      <a:folHlink>
        <a:srgbClr val="7F7F7F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45182065_win32_fixed" id="{54D1AA8E-AE41-4F75-AFF4-1E55BF728136}" vid="{9097BC2D-75F4-410C-8544-556C30F4ECC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4" ma:contentTypeDescription="Create a new document." ma:contentTypeScope="" ma:versionID="2d714a3296df14eba7a100bb665443ca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49549bf45bfbbfb6cffed527380e77e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19B3EA6-E2E1-4B68-B700-9432F9FC79D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C8413E5-0484-489B-B293-D8720B6027F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7BEDC914-E79E-4731-88EB-C290A6D4D68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Persuasive speech outline </Template>
  <TotalTime>986</TotalTime>
  <Words>1761</Words>
  <Application>Microsoft Office PowerPoint</Application>
  <PresentationFormat>Widescreen</PresentationFormat>
  <Paragraphs>200</Paragraphs>
  <Slides>18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Calibri</vt:lpstr>
      <vt:lpstr>Century Gothic</vt:lpstr>
      <vt:lpstr>Courier New</vt:lpstr>
      <vt:lpstr>Tahoma</vt:lpstr>
      <vt:lpstr>Wingdings 2</vt:lpstr>
      <vt:lpstr>Quotable</vt:lpstr>
      <vt:lpstr>Random Picker</vt:lpstr>
      <vt:lpstr>The problem and the proposed solution</vt:lpstr>
      <vt:lpstr>Target Users</vt:lpstr>
      <vt:lpstr>Market Research</vt:lpstr>
      <vt:lpstr>Market Research</vt:lpstr>
      <vt:lpstr>Market Research</vt:lpstr>
      <vt:lpstr>Market Research</vt:lpstr>
      <vt:lpstr>My App - list of features</vt:lpstr>
      <vt:lpstr>Feature comparison table</vt:lpstr>
      <vt:lpstr>SWOT Analysis</vt:lpstr>
      <vt:lpstr>In App Purchases</vt:lpstr>
      <vt:lpstr>Beta / Soft Launch</vt:lpstr>
      <vt:lpstr>Permissions Required </vt:lpstr>
      <vt:lpstr>UX - Wireframes</vt:lpstr>
      <vt:lpstr>UI - Mockup</vt:lpstr>
      <vt:lpstr>Server</vt:lpstr>
      <vt:lpstr>Advertisements</vt:lpstr>
      <vt:lpstr>Data Security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Sheera Ner Gaon</dc:creator>
  <cp:lastModifiedBy>Sheera Ner Gaon</cp:lastModifiedBy>
  <cp:revision>7</cp:revision>
  <dcterms:created xsi:type="dcterms:W3CDTF">2025-11-20T10:22:32Z</dcterms:created>
  <dcterms:modified xsi:type="dcterms:W3CDTF">2025-12-15T00:26:01Z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